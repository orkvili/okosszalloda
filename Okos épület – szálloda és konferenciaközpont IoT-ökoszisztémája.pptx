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Bemutatkozás: a csapat tagjai. A kapott feladat: egy nagy szálloda és konferenciaközpont okos épületfelügyeleti IoT-rendszerének megtervezése. A jobb oldali ábra jelképesen a rendszert mutatja: a világító türkiz pontok az ablakoknál érzékelők, a bal oldali adatgerinc szintenként gyűjti az adatot, a tetőn a gateway antennája a felhővel kommunikál, a pincében az edge szerver fut, a narancs ablakok pedig lakott szobák.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megrendelő egy nagy városi szálloda és konferenciaközpont; a méretek feltételezések, ezekre építettük a tervet. A lényeg a változó kihasználtság: ugyanaz a terem hol üres, hol 300 fővel telt. Nem általánosságban akarjuk „hatékonyabbá tenni a működést”, hanem négy konkrét problémát oldunk meg. P1: üres szobák és termek klimatizálása. P2: elhasznált levegő a teli termekben. P3: a szivárgás és a gépészeti hiba ma csak a kár után derül ki. P4: nincs zónánkénti mérés, így a megtakarítás sem mérhető. A P-kódokkal a későbbi diákon is jelöljük, melyik elem melyik problémára felel.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cél egy mondatban: az épület érzékeli az állapotát, dönt, és jelez vagy beavatkozik. Ebből három várható előny következik, és mindegyiknél jelöljük, melyik problémára felel. Kevesebb energia: csak ott klimatizálunk, ahol valaki van – egy amerikai szállodai terepvizsgálatban a jelenlét-alapú vezérlés körülbelül 25%-kal csökkentette a szobák hűtési energiáját. Jobb komfort: a szellőzés a valós létszámot követi; a NIST áttekintése változó kihasználtságú előadótermekre 20–50% becsült megtakarítást ad meg. Korai hibafelismerés: a szivárgás vagy a gépészeti hiba percek alatt jelez. A pontos megtakarítást nálunk a pilot mérése adja meg.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Összesen nyolc mérési adatot gyűjtünk kilenc szenzortípussal; ezen a dián a vendégterek négy szenzora látszik. Mindegyiknél megmutatjuk, mit mér, milyen adatot ad, hová kerül és miért kell – zárójelben a probléma kódja. A jelenlét-érzékelő a mozgásérzékelő mellett radart is használ, így az ágyban fekvő, mozdulatlan vendéget is érzékeli; kamera nincs. A CO₂-érzékelő infravörös elvű (NDIR), fejmagasságba kerül, távol az ajtótól és a befúvótól. A foglalási rendszer nem szenzor, de adatforrás: tudjuk belőle, ki van kiadva és mikor érkezik a vendég. Gyártót és típust szándékosan nem választottunk.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második csoport a műszaki rendszereket figyeli. A szivárgásérzékelő padlószinten jelez, az átfolyásmérő pedig a falban lévő, nem látható szivárgást is elárulja: ha éjjel háromkor is folyamatosan fogy a víz, valahol baj van. Az energiamérők az elosztókba kerülnek, így zónánként látjuk a fogyasztást. A rezgésérzékelő a forgó gépek kopását mutatja meg a leállás előtt, a hűtőkamra-hőmérő pedig automatikusan vezeti a HACCP-naplót. A betűkódok a következő dián, a szenzortérképen is ugyanezek.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épület szintenként, fentről lefelé. A betűk a szenzortípusokat jelölik, ugyanazokat, mint az előző két dián: türkiz a vendégkomfort (jelenlét, hő és pára, CO₂, ablaknyitás), sárga a műszaki felügyelet (szivárgás, vízóra, energia, rezgés, hűtőkamra). A szobaszint mintája mind az öt vendégszinten ismétlődik. A CO₂-érzékelő ott van, ahol sok ember gyűlik össze: termekben, étteremben, lobbyban. A gateway-ek végleges helyét rádiós helyszínfelmérés dönti el, mert a vasbeton födémek gyengítik a jelet.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környezethez illő technológiát választottunk. Az elemes szenzorok LoRaWAN rádión küldenek: egy hatemeletes vasbeton épületben ez néhány gateway-jel lefedhető, az elem évekig bírja, és egy hőmérséklet- vagy szivárgásjelzéshez a kis adatmennyiség bőven elég. A mérők, a légkezelők és a beavatkozók a meglévő Modbus vagy BACnet buszon maradnak, mert a vezérlőparancsnak biztosan célba kell érnie. Wi-Fi-t és Zigbee-t tudatosan nem választottunk. A gerinc vezetékes Ethernet egy külön, tűzfallal védett IoT-hálózaton, 4G-tartalékkal.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Saját rendszerábránk balról jobbra követi az adatot. 1: a szenzorok mérnek – betűkódjuk ugyanaz, mint a szenzortérképen. 2: az elemes szenzorok LoRaWAN rádión, a mérők és gépek Modbus/BACnet buszon küldenek. 3: szintenként gateway-ek fordítják a protokollokat, pufferelnek és titkosítanak, egy külön OT-hálózaton. 4: a helyi edge szerver futtatja a szabályokat és automatizmusokat, internetkiesés esetén is. 5: a felhő tárol és elemez. A vezérlőjel visszafelé, a gateway-en át jut el a beavatkozókhoz: fan-coil, légkezelő, világítás, vízelzáró szelep. Integrációként kapcsolódik a foglalási rendszer (PMS) és a karbantartás-kezelő (CMMS); a tűzjelző rendszert csak olvassuk, abba nem avatkozunk be. A felületek a dashboard, a mobilapp és a push/SMS riasztás.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 elég megmérni az adatot – mindegyiknek van célja. Minden érték élőben látszik a dashboardon, ezen felül eltároljuk trendelemzéshez, határérték-vizsgálatot futtatunk rá, egy részük automatikus döntést indít, és van, amit más rendszernek adunk tovább: a takarítható szobák listáját a housekeepingnek, a hibát a karbantartás-kezelőnek (CMMS). A rezgésnél a gép saját alapvonalához mérjük a tartós emelkedést – ez a megelőző karbantartás alapja. A hűtőkamránál szándékosan emberi döntés van: a konyhafőnök dönti el, mi legyen az áruval. Alul egy teljes példa a mérés utáni útra.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Mindhárom folyamat ugyanazt a logikát követi: mérés vagy esemény, feltétel, döntés, automatikus reakció. Az első a szoba üzemmódja: a foglalási rendszer, a jelenlét és az ablaknyitás együtt dönti el, hogy komfort, takarék vagy leállított állapotban van a szoba – télen 22 illetve 18 °C az alapjel, nyitott ablaknál a fan-coil leáll, érkezés előtt egy órával előfűtünk. A második a konferenciaterem: 1000 ppm CO₂ felett több friss levegőt kap, 1400 ppm felett a műszak is értesítést kap, üres teremben minimumra áll vissza. A harmadik a szivárgás: itt nincs késleltetés, a motoros szelep csak az érintett vízágat zárja el. A határértékek beállíthatók; további automatizmus a rezgés alapján induló munkalap.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 működő alkalmazást készítettünk, hanem egy vizuális mockupot a műszakvezető nézetéről, tableten. Bal oldalt a menü: áttekintés, energia, klíma, szobák, termek, riasztások, eszközök, beállítások, alul a rendszer állapota. Felül a napi mutatók: beltéri átlaghőmérséklet, mai energiafogyasztás az átlaghoz képest, foglaltság és a takarék módban lévő szobák. Alatta az épületszintek állapota szobánként és az aktív riasztások – itt a 312-es szoba szivárgása, ahol a szelep már automatikusan elzárt, és a légkezelő emelkedő rezgése. Alul az automatikus üzemmód kapcsolója: bármikor kikapcsolható vagy kézzel felülbírálható. Jobb oldalt a szerepkörök: az igazgató csak összesített adatot lát, a karbantartó mobilon kapja a riasztást, a recepció a szobák állapotát, a vendég csak a saját szobáját állíthatja, korlátok között.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a felület részletesebb mockupja, négy szerepkörre. Bal oldalt az üzemeltetési vezető áttekintő nézete laptopon: beltéri átlaghőmérséklet, napi energiafogyasztás, szobafoglaltság és vendégkomfort-index, alatta a hétnapos energiatrend, az aktív riasztások – vízszivárgás a gépházban elzárt szeleppel, hűtőkamra határérték felett, szűrőcsere –, az épületszintek állapota és a klímavezérlés ECO móddal. Jobb felül az igazgatóság elemző nézete: energiamegtakarítás, vendégelégedettség, energia és foglaltság havonta, energia megoszlása. Alul a vendég mobil nézete a saját szobája klímájával, és a karbantartó eszközállapot-listája, ahol látszik, melyik szenzor online, melyik riaszt. A négy alsó kártya összefoglalja, mit tud a rendszer: érzékel, automatizál, korán jelzi a hibát, és egy közös felületen mutatja az adatot, szerepkörönként más nézetben.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Öt kockázatot és a kiberbiztonságot mutatjuk be – mindegyikhez kezelési módot. A költségnél a szakirodalmi terepvizsgálat is jelzi, hogy enyhe éghajlaton a megtérülés lassabb, ezért indulunk pilottal. A rádiós lefedettséget egy vasbeton épületben előre fel kell mérni. A szenzorok is hibázhatnak, ezért figyeljük az életjelüket és az elemszintjüket. Internetkiesésnél a helyi edge szerver tovább működik. A kiberbiztonság kötelező része a tervnek: több száz hálózatba kötött eszköz mind egy lehetséges belépési pont. Ezért külön, tűzfallal védett hálózatot, titkosítást, szerepkör-alapú és kétfaktoros belépést, eszközönkénti kulcsot és frissítést, naplózást tervezünk. A jelenlétadat személyes adat is lehet, ezért nincs kamera, és az adatot anonimizáljuk.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rendszer nem egyszerre épül ki. Az első három hónapban egy szobaszinten, egy konferenciateremben és a hűtőkamrákban próbáljuk ki, előtte megmérjük a kiinduló fogyasztást, hogy a megtakarítás összehasonlítható legyen. Ha a pilot beváltja a reményeket, kiterjesztjük az egész épületre, majd bekötjük a gépészetet és a karbantartás-kezelést. Az ütemezés javaslat. Összefoglalva: nyolc mérési adat, kilenc szenzortípus, három részletesen kidolgozott automatizmus és egy közös felület – minden elem egy konkrét problémára (P1–P4) felel.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Várható kérdések és rövid válaszok. Miért nem Wi-Fi? Elemes szenzornál túl nagy a fogyasztás, a vendéghálózatra pedig nem teszünk épületvezérlést. Mi történik internetkiesésnél? A helyi edge szerver tovább futtatja az automatizmusokat. Nem sérti a vendég magánszféráját? Nincs kamera, a jelenlétadat anonim és rövid ideig tárolt. Mikor térül meg? Ezt a pilot mérése mutatja meg, ezért indulunk egy szinttel.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ilizált okos épület: szenzorok az ablakoknál, adatgerinc, tetőn gateway antennával, felhőkapcsolat és szerver a pincéb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3000" y="609600"/>
            <a:ext cx="3886200" cy="5435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654050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4FC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IPAR 4.0 · 1. CSAPATOS PROJEKTFELADAT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2176793"/>
            <a:ext cx="6540500" cy="71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5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Okos épület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12800" y="3048000"/>
            <a:ext cx="654050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>
                <a:solidFill>
                  <a:srgbClr val="F5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Szálloda és konferenciaközpont IoT-ökoszisztémája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12800" y="4102100"/>
            <a:ext cx="65405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Rendszerkoncepció: érzékelés, adatút, automatizálás és felhasználói felület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5532173"/>
            <a:ext cx="65405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Csapat: Örkényi Vilmos · Németh Balázs Kristóf · Schneweisz Levente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58318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Soproni Egyetem · IPAR 4.0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A MEGRENDELŐ ÉS A PROBLÉMÁK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Egy épület, négy konkrét probléma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09684"/>
            <a:ext cx="5118100" cy="1201208"/>
          </a:xfrm>
          <a:prstGeom prst="roundRect">
            <a:avLst>
              <a:gd name="adj" fmla="val 6872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1968434"/>
            <a:ext cx="4892294" cy="909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Nagy városi szálloda és konferenciaközpont.</a:t>
            </a: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Éjjel-nappal üzemel, de a kihasználtság erősen ingadozik: hétköznap konferenciák, hétvégén turisták. Az üzemeltetés ma kézi: fix időprogramok, bejárások, vendégjelzések.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02350" y="1809684"/>
            <a:ext cx="1193800" cy="1201208"/>
          </a:xfrm>
          <a:prstGeom prst="roundRect">
            <a:avLst>
              <a:gd name="adj" fmla="val 6915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35700" y="2144845"/>
            <a:ext cx="977900" cy="33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7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35700" y="2477559"/>
            <a:ext cx="977900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szoba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61250" y="1809684"/>
            <a:ext cx="1193800" cy="1201208"/>
          </a:xfrm>
          <a:prstGeom prst="roundRect">
            <a:avLst>
              <a:gd name="adj" fmla="val 6915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94600" y="2144845"/>
            <a:ext cx="977900" cy="33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7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4600" y="2477559"/>
            <a:ext cx="977900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20150" y="1809684"/>
            <a:ext cx="1193800" cy="1201208"/>
          </a:xfrm>
          <a:prstGeom prst="roundRect">
            <a:avLst>
              <a:gd name="adj" fmla="val 6915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53500" y="2144845"/>
            <a:ext cx="977900" cy="33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7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53500" y="2477559"/>
            <a:ext cx="977900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fő max.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79050" y="1809684"/>
            <a:ext cx="1193800" cy="1201208"/>
          </a:xfrm>
          <a:prstGeom prst="roundRect">
            <a:avLst>
              <a:gd name="adj" fmla="val 6915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12400" y="2144845"/>
            <a:ext cx="977900" cy="33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7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24/7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312400" y="2477559"/>
            <a:ext cx="977900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üzem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9150" y="3175992"/>
            <a:ext cx="2514600" cy="1904802"/>
          </a:xfrm>
          <a:prstGeom prst="roundRect">
            <a:avLst>
              <a:gd name="adj" fmla="val 4334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7900" y="3334742"/>
            <a:ext cx="22630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P1</a:t>
            </a: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Üres szobát is fűtünk, hűtünk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7900" y="3855442"/>
            <a:ext cx="2263013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Kijelentkezés után a klíma órákig a vendég beállításán fut, nyitott ablaknál is; a termek szellőzése fix időprogramot követ.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98850" y="3175992"/>
            <a:ext cx="2514600" cy="1904802"/>
          </a:xfrm>
          <a:prstGeom prst="roundRect">
            <a:avLst>
              <a:gd name="adj" fmla="val 4334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334742"/>
            <a:ext cx="22630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P2</a:t>
            </a: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Rossz levegő a teli teremben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0" y="3855442"/>
            <a:ext cx="226301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Egy 300 fős szekció közben nő a CO₂-szint és a hőmérséklet; a műszak csak a szervező panasza után avatkozik be.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8550" y="3175992"/>
            <a:ext cx="2514600" cy="1904802"/>
          </a:xfrm>
          <a:prstGeom prst="roundRect">
            <a:avLst>
              <a:gd name="adj" fmla="val 4334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7300" y="3334742"/>
            <a:ext cx="22630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A5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P3</a:t>
            </a: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Későn észlelt műszaki hibák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37300" y="3855442"/>
            <a:ext cx="2263013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szivárgás csak az átázott mennyezetnél derül ki; a gép- vagy hűtőkamrahibát a vendég vagy a reggeli műszak veszi észre.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58250" y="3175992"/>
            <a:ext cx="2514600" cy="1904802"/>
          </a:xfrm>
          <a:prstGeom prst="roundRect">
            <a:avLst>
              <a:gd name="adj" fmla="val 4334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17000" y="3334742"/>
            <a:ext cx="22630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A5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P4</a:t>
            </a: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Nem látni, hol fogy az energia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17000" y="3855442"/>
            <a:ext cx="2263013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Csak a havi közműszámla látszik: nem tudni, melyik épületrész, gép vagy időszak pazarol, és a megtakarítás sem mérhető.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967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Feltételezett méretek. A további tervezés mind a négy problémára választ ad (P1–P4).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7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FE9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A CÉL ÉS A VÁRHATÓ ELŐNYÖK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Egy épület, amely érzékel, dönt és jelez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237251"/>
            <a:ext cx="3386667" cy="0"/>
          </a:xfrm>
          <a:prstGeom prst="line">
            <a:avLst/>
          </a:prstGeom>
          <a:noFill/>
          <a:ln w="25400">
            <a:solidFill>
              <a:srgbClr val="F5F3EE"/>
            </a:solidFill>
            <a:prstDash val="solid"/>
          </a:ln>
        </p:spPr>
      </p:sp>
      <p:pic>
        <p:nvPicPr>
          <p:cNvPr id="5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453151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2910351"/>
            <a:ext cx="3488267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5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Kevesebb energia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12800" y="3333221"/>
            <a:ext cx="3488267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Csak ott és akkor fűtünk, hűtünk, szellőztetünk, ahol valaki van – és látjuk, hol fogy az energia.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3876675"/>
            <a:ext cx="3488267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i="1" dirty="0">
                <a:solidFill>
                  <a:srgbClr val="CFE9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Terepmérésben ~25%-kal kevesebb hűtési energia a szobákban.¹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4420130"/>
            <a:ext cx="3488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FE9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Megoldja: P1 · P4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02667" y="2237251"/>
            <a:ext cx="3386667" cy="0"/>
          </a:xfrm>
          <a:prstGeom prst="line">
            <a:avLst/>
          </a:prstGeom>
          <a:noFill/>
          <a:ln w="25400">
            <a:solidFill>
              <a:srgbClr val="F5F3EE"/>
            </a:solidFill>
            <a:prstDash val="solid"/>
          </a:ln>
        </p:spPr>
      </p:sp>
      <p:pic>
        <p:nvPicPr>
          <p:cNvPr id="11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02667" y="2453151"/>
            <a:ext cx="355600" cy="355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02667" y="2910351"/>
            <a:ext cx="3488267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5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Jobb vendégkomfort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402667" y="3333221"/>
            <a:ext cx="3488267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Stabil hőmérséklet a szobában, friss levegő a teli teremben is.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02667" y="3876675"/>
            <a:ext cx="3488267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i="1" dirty="0">
                <a:solidFill>
                  <a:srgbClr val="CFE9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Igény szerinti szellőzés: termekben 20–50% becsült megtakarítás.²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02667" y="4420130"/>
            <a:ext cx="3488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FE9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Megoldja: P1 · P2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92534" y="2237251"/>
            <a:ext cx="3386667" cy="0"/>
          </a:xfrm>
          <a:prstGeom prst="line">
            <a:avLst/>
          </a:prstGeom>
          <a:noFill/>
          <a:ln w="25400">
            <a:solidFill>
              <a:srgbClr val="F5F3EE"/>
            </a:solidFill>
            <a:prstDash val="solid"/>
          </a:ln>
        </p:spPr>
      </p:sp>
      <p:pic>
        <p:nvPicPr>
          <p:cNvPr id="17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92534" y="2453151"/>
            <a:ext cx="355600" cy="355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92534" y="2910351"/>
            <a:ext cx="3488267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5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Korai hibafelismerés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7992534" y="3333221"/>
            <a:ext cx="3488267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Szivárgás, gép- és hűtőkamrahiba percek alatt jelez, sokszor még a kár előtt.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992534" y="3876675"/>
            <a:ext cx="3488267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i="1" dirty="0">
                <a:solidFill>
                  <a:srgbClr val="CFE9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víz elzárása automatikus, éjszaka is.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992534" y="4199203"/>
            <a:ext cx="3488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FE9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Megoldja: P3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12800" y="53086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Érzékelés → továbbítás → feldolgozás → megjelenítés, riasztás, automatikus beavatkozás: </a:t>
            </a:r>
            <a:r>
              <a:rPr lang="en-US" sz="15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egyetlen összefüggő rendszerben.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12800" y="6238280"/>
            <a:ext cx="967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E9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¹ UC Davis WCEC, szállodai terepvizsgálat · ² NIST, CO₂-alapú igény szerinti szellőzés – áttekintés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E9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SZENZOROK I. – VENDÉGTEREK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Mit mérünk a szobákban és a termekben?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86505"/>
            <a:ext cx="10566400" cy="0"/>
          </a:xfrm>
          <a:prstGeom prst="line">
            <a:avLst/>
          </a:prstGeom>
          <a:noFill/>
          <a:ln w="12700">
            <a:solidFill>
              <a:srgbClr val="1422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03335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SZENZOR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9000" y="1803335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MÉRÉS ÉS ADAT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803335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ELHELYEZÉS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042400" y="1803335"/>
            <a:ext cx="2406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MIÉRT KELL?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723754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800" y="2194455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11" name="Text 9"/>
          <p:cNvSpPr/>
          <p:nvPr/>
        </p:nvSpPr>
        <p:spPr>
          <a:xfrm>
            <a:off x="787400" y="2194455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93800" y="2194455"/>
            <a:ext cx="20929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Jelenlét-érzékelő (PIR + radar)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455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Mozgás és álló, alvó ember jelenléte: foglalt / szabad, változáskor azonnal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2194455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Szobák mennyezete, konferenciatermek, folyosók, mosdók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42400" y="2194455"/>
            <a:ext cx="240690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Fűtés, hűtés, világítás igény szerint </a:t>
            </a:r>
            <a:r>
              <a:rPr lang="en-US" sz="120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(P1)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357827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800" y="2828528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18" name="Text 16"/>
          <p:cNvSpPr/>
          <p:nvPr/>
        </p:nvSpPr>
        <p:spPr>
          <a:xfrm>
            <a:off x="787400" y="2828528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93800" y="2828528"/>
            <a:ext cx="20929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Hő- és páraérzékelő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2828528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Hőmérséklet (°C), relatív páratartalom (%RH), 5 percenként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828528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Szobai termosztátpanel; termek fala 1,5 m-en; fürdő, wellness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42400" y="2828528"/>
            <a:ext cx="240690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Komfortszabályozás, penészkockázat </a:t>
            </a:r>
            <a:r>
              <a:rPr lang="en-US" sz="120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(P1, P2)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4205222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800" y="3462603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25" name="Text 23"/>
          <p:cNvSpPr/>
          <p:nvPr/>
        </p:nvSpPr>
        <p:spPr>
          <a:xfrm>
            <a:off x="787400" y="3462603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93800" y="3462603"/>
            <a:ext cx="20929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CO₂-érzékelő (NDIR)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29000" y="3462603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Szén-dioxid-koncentráció (ppm), 1–2 percenként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3462603"/>
            <a:ext cx="27470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Termek, étterem, lobby – fejmagasságban, ajtótól és befúvótól távol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42400" y="3462603"/>
            <a:ext cx="240690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Igény szerinti szellőzés, riasztás </a:t>
            </a:r>
            <a:r>
              <a:rPr lang="en-US" sz="120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(P2)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2800" y="4309997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31" name="Text 29"/>
          <p:cNvSpPr/>
          <p:nvPr/>
        </p:nvSpPr>
        <p:spPr>
          <a:xfrm>
            <a:off x="787400" y="4309997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93800" y="4309997"/>
            <a:ext cx="20929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Nyitásérzékelő (mágneses)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29000" y="4309997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Ablak, ajtó: nyitva / zárva, eseményre azonnal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4309997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Ablakok és erkélyajtók kerete; gépészeti ajtók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42400" y="4309997"/>
            <a:ext cx="240690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Fan-coil tiltása nyitott ablaknál </a:t>
            </a:r>
            <a:r>
              <a:rPr lang="en-US" sz="120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(P1)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80"/>
            <a:ext cx="967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Adatforrás, nem szenzor: a PMS (foglalási rendszer) – check-in, check-out, érkezés ideje.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SZENZOROK II. – MŰSZAKI TEREK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Víz, energia, gépek, hűtés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86505"/>
            <a:ext cx="10566400" cy="0"/>
          </a:xfrm>
          <a:prstGeom prst="line">
            <a:avLst/>
          </a:prstGeom>
          <a:noFill/>
          <a:ln w="12700">
            <a:solidFill>
              <a:srgbClr val="1422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03335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SZENZOR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9000" y="1803335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MÉRÉS ÉS ADAT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803335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ELHELYEZÉS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042400" y="1803335"/>
            <a:ext cx="2406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MIÉRT KELL?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698354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800" y="2181755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11" name="Text 9"/>
          <p:cNvSpPr/>
          <p:nvPr/>
        </p:nvSpPr>
        <p:spPr>
          <a:xfrm>
            <a:off x="787400" y="2181755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93800" y="2181755"/>
            <a:ext cx="20929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Szivárgásérzékelő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181755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Víz a padlón: igen / nem, azonnal; naponta életjel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2181755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Fürdőszobák, konyha, gépház, mosoda, uszodagépészet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42400" y="2181755"/>
            <a:ext cx="2406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Riasztás, vízelzárás </a:t>
            </a:r>
            <a:r>
              <a:rPr lang="en-US" sz="1200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(P3)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307027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800" y="2790428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18" name="Text 16"/>
          <p:cNvSpPr/>
          <p:nvPr/>
        </p:nvSpPr>
        <p:spPr>
          <a:xfrm>
            <a:off x="787400" y="2790428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93800" y="2790428"/>
            <a:ext cx="20929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Átfolyásmérő (vízóra-jeladó)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2790428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Vízfogyasztás (l/h), 15 percenként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790428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Fő vízbekötés, emeleti leágazások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42400" y="2790428"/>
            <a:ext cx="2406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Rejtett szivárgás éjszaka </a:t>
            </a:r>
            <a:r>
              <a:rPr lang="en-US" sz="1200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(P3, P4)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3915703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800" y="3399104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25" name="Text 23"/>
          <p:cNvSpPr/>
          <p:nvPr/>
        </p:nvSpPr>
        <p:spPr>
          <a:xfrm>
            <a:off x="787400" y="3399104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93800" y="3399104"/>
            <a:ext cx="20929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Energiamérő (almérő)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29000" y="3399104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Teljesítmény (kW), fogyasztás (kWh), percenként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3399104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Fő- és szinti elosztók; konyha, légkezelők, wellness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42400" y="3399104"/>
            <a:ext cx="2406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Fogyasztás zónánként </a:t>
            </a:r>
            <a:r>
              <a:rPr lang="en-US" sz="1200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(P4)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2800" y="4524376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800" y="4007777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32" name="Text 30"/>
          <p:cNvSpPr/>
          <p:nvPr/>
        </p:nvSpPr>
        <p:spPr>
          <a:xfrm>
            <a:off x="787400" y="4007777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93800" y="4007777"/>
            <a:ext cx="20929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Rezgésérzékelő (gépekre)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429000" y="4007777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Rezgés (mm/s), csapágyhő (°C), 10 percenként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4007777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Légkezelők, szivattyúk, hűtőgép, liftgép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42400" y="4007777"/>
            <a:ext cx="2406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Kopás jelzése leállás előtt </a:t>
            </a:r>
            <a:r>
              <a:rPr lang="en-US" sz="1200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(P3)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2800" y="461645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38" name="Text 36"/>
          <p:cNvSpPr/>
          <p:nvPr/>
        </p:nvSpPr>
        <p:spPr>
          <a:xfrm>
            <a:off x="787400" y="461645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93800" y="4616450"/>
            <a:ext cx="20929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Hűtőkamra-hőmérő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429000" y="4616450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Kamra hőmérséklete (°C), 5 percenként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72200" y="461645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Konyhai hűtő- és fagyasztókamrák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42400" y="4616450"/>
            <a:ext cx="2406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HACCP-napló, riasztás </a:t>
            </a:r>
            <a:r>
              <a:rPr lang="en-US" sz="1200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(P3)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2800" y="6238280"/>
            <a:ext cx="967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Konkrét gyártót, típust nem választunk – a szenzor típusa és funkciója a lényeg.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SZENZOROK ELHELYEZÉSE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Szenzortérkép szintenként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35"/>
            <a:ext cx="1270000" cy="673100"/>
          </a:xfrm>
          <a:prstGeom prst="roundRect">
            <a:avLst>
              <a:gd name="adj" fmla="val 9434"/>
            </a:avLst>
          </a:prstGeom>
          <a:solidFill>
            <a:srgbClr val="14222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33191"/>
            <a:ext cx="1117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Tető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52650" y="1809685"/>
            <a:ext cx="5994400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0600" y="1892235"/>
            <a:ext cx="59518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Tetőgépészet: légkezelők, hűtőgép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0600" y="21335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9" name="Text 7"/>
          <p:cNvSpPr/>
          <p:nvPr/>
        </p:nvSpPr>
        <p:spPr>
          <a:xfrm>
            <a:off x="2235200" y="21335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5400" y="21335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11" name="Text 9"/>
          <p:cNvSpPr/>
          <p:nvPr/>
        </p:nvSpPr>
        <p:spPr>
          <a:xfrm>
            <a:off x="2540000" y="21335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2539935"/>
            <a:ext cx="1270000" cy="673100"/>
          </a:xfrm>
          <a:prstGeom prst="roundRect">
            <a:avLst>
              <a:gd name="adj" fmla="val 9434"/>
            </a:avLst>
          </a:prstGeom>
          <a:solidFill>
            <a:srgbClr val="14222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56815"/>
            <a:ext cx="1117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Szobaszint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882835"/>
            <a:ext cx="1117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2–6. emelet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52650" y="2546285"/>
            <a:ext cx="1441450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0600" y="2628835"/>
            <a:ext cx="12763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Vendégszoba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0600" y="28701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18" name="Text 16"/>
          <p:cNvSpPr/>
          <p:nvPr/>
        </p:nvSpPr>
        <p:spPr>
          <a:xfrm>
            <a:off x="2235200" y="28701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5400" y="28701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20" name="Text 18"/>
          <p:cNvSpPr/>
          <p:nvPr/>
        </p:nvSpPr>
        <p:spPr>
          <a:xfrm>
            <a:off x="2540000" y="28701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70200" y="28701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22" name="Text 20"/>
          <p:cNvSpPr/>
          <p:nvPr/>
        </p:nvSpPr>
        <p:spPr>
          <a:xfrm>
            <a:off x="2844800" y="28701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70300" y="2546285"/>
            <a:ext cx="1441450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8250" y="2628835"/>
            <a:ext cx="12763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Fürdőszoba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78250" y="28701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26" name="Text 24"/>
          <p:cNvSpPr/>
          <p:nvPr/>
        </p:nvSpPr>
        <p:spPr>
          <a:xfrm>
            <a:off x="3752850" y="28701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87950" y="2546285"/>
            <a:ext cx="1441450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95900" y="2628835"/>
            <a:ext cx="12763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Folyosó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95900" y="28701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30" name="Text 28"/>
          <p:cNvSpPr/>
          <p:nvPr/>
        </p:nvSpPr>
        <p:spPr>
          <a:xfrm>
            <a:off x="5270500" y="28701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05600" y="2546285"/>
            <a:ext cx="1441450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3550" y="2628835"/>
            <a:ext cx="12763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Szintelosztó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13550" y="28701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34" name="Text 32"/>
          <p:cNvSpPr/>
          <p:nvPr/>
        </p:nvSpPr>
        <p:spPr>
          <a:xfrm>
            <a:off x="6788150" y="28701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2800" y="3276535"/>
            <a:ext cx="1270000" cy="673100"/>
          </a:xfrm>
          <a:prstGeom prst="roundRect">
            <a:avLst>
              <a:gd name="adj" fmla="val 9434"/>
            </a:avLst>
          </a:prstGeom>
          <a:solidFill>
            <a:srgbClr val="14222F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3393415"/>
            <a:ext cx="1117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emelet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3619435"/>
            <a:ext cx="1117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konferencia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52650" y="3282885"/>
            <a:ext cx="1947333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60600" y="3365435"/>
            <a:ext cx="178337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terem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260600" y="36067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41" name="Text 39"/>
          <p:cNvSpPr/>
          <p:nvPr/>
        </p:nvSpPr>
        <p:spPr>
          <a:xfrm>
            <a:off x="2235200" y="36067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65400" y="36067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43" name="Text 41"/>
          <p:cNvSpPr/>
          <p:nvPr/>
        </p:nvSpPr>
        <p:spPr>
          <a:xfrm>
            <a:off x="2540000" y="36067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870200" y="36067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45" name="Text 43"/>
          <p:cNvSpPr/>
          <p:nvPr/>
        </p:nvSpPr>
        <p:spPr>
          <a:xfrm>
            <a:off x="2844800" y="36067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176183" y="3282885"/>
            <a:ext cx="1947333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84133" y="3365435"/>
            <a:ext cx="178337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terem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284133" y="36067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49" name="Text 47"/>
          <p:cNvSpPr/>
          <p:nvPr/>
        </p:nvSpPr>
        <p:spPr>
          <a:xfrm>
            <a:off x="4258733" y="36067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588933" y="36067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51" name="Text 49"/>
          <p:cNvSpPr/>
          <p:nvPr/>
        </p:nvSpPr>
        <p:spPr>
          <a:xfrm>
            <a:off x="4563533" y="36067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93733" y="36067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53" name="Text 51"/>
          <p:cNvSpPr/>
          <p:nvPr/>
        </p:nvSpPr>
        <p:spPr>
          <a:xfrm>
            <a:off x="4868333" y="36067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199717" y="3282885"/>
            <a:ext cx="1947333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667" y="3365435"/>
            <a:ext cx="178337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Előtér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307667" y="36067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57" name="Text 55"/>
          <p:cNvSpPr/>
          <p:nvPr/>
        </p:nvSpPr>
        <p:spPr>
          <a:xfrm>
            <a:off x="6282267" y="36067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612467" y="36067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59" name="Text 57"/>
          <p:cNvSpPr/>
          <p:nvPr/>
        </p:nvSpPr>
        <p:spPr>
          <a:xfrm>
            <a:off x="6587067" y="36067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12800" y="4013135"/>
            <a:ext cx="1270000" cy="673100"/>
          </a:xfrm>
          <a:prstGeom prst="roundRect">
            <a:avLst>
              <a:gd name="adj" fmla="val 9434"/>
            </a:avLst>
          </a:prstGeom>
          <a:solidFill>
            <a:srgbClr val="14222F"/>
          </a:solidFill>
          <a:ln/>
        </p:spPr>
      </p:sp>
      <p:sp>
        <p:nvSpPr>
          <p:cNvPr id="61" name="Text 59"/>
          <p:cNvSpPr/>
          <p:nvPr/>
        </p:nvSpPr>
        <p:spPr>
          <a:xfrm>
            <a:off x="914400" y="4242991"/>
            <a:ext cx="1117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Földszint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152650" y="4019485"/>
            <a:ext cx="1947333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60600" y="4102035"/>
            <a:ext cx="178337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Lobby, recepció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260600" y="43433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65" name="Text 63"/>
          <p:cNvSpPr/>
          <p:nvPr/>
        </p:nvSpPr>
        <p:spPr>
          <a:xfrm>
            <a:off x="2235200" y="43433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565400" y="43433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67" name="Text 65"/>
          <p:cNvSpPr/>
          <p:nvPr/>
        </p:nvSpPr>
        <p:spPr>
          <a:xfrm>
            <a:off x="2540000" y="43433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870200" y="43433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69" name="Text 67"/>
          <p:cNvSpPr/>
          <p:nvPr/>
        </p:nvSpPr>
        <p:spPr>
          <a:xfrm>
            <a:off x="2844800" y="43433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176183" y="4019485"/>
            <a:ext cx="1947333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84133" y="4102035"/>
            <a:ext cx="178337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Étterem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284133" y="43433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73" name="Text 71"/>
          <p:cNvSpPr/>
          <p:nvPr/>
        </p:nvSpPr>
        <p:spPr>
          <a:xfrm>
            <a:off x="4258733" y="43433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588933" y="43433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75" name="Text 73"/>
          <p:cNvSpPr/>
          <p:nvPr/>
        </p:nvSpPr>
        <p:spPr>
          <a:xfrm>
            <a:off x="4563533" y="43433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4893733" y="43433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77" name="Text 75"/>
          <p:cNvSpPr/>
          <p:nvPr/>
        </p:nvSpPr>
        <p:spPr>
          <a:xfrm>
            <a:off x="4868333" y="43433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199717" y="4019485"/>
            <a:ext cx="1947333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7667" y="4102035"/>
            <a:ext cx="178337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Konyha, hűtőkamra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307667" y="43433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81" name="Text 79"/>
          <p:cNvSpPr/>
          <p:nvPr/>
        </p:nvSpPr>
        <p:spPr>
          <a:xfrm>
            <a:off x="6282267" y="43433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612467" y="43433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83" name="Text 81"/>
          <p:cNvSpPr/>
          <p:nvPr/>
        </p:nvSpPr>
        <p:spPr>
          <a:xfrm>
            <a:off x="6587067" y="43433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917267" y="43433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85" name="Text 83"/>
          <p:cNvSpPr/>
          <p:nvPr/>
        </p:nvSpPr>
        <p:spPr>
          <a:xfrm>
            <a:off x="6891867" y="43433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12800" y="4749735"/>
            <a:ext cx="1270000" cy="673100"/>
          </a:xfrm>
          <a:prstGeom prst="roundRect">
            <a:avLst>
              <a:gd name="adj" fmla="val 9434"/>
            </a:avLst>
          </a:prstGeom>
          <a:solidFill>
            <a:srgbClr val="14222F"/>
          </a:solidFill>
          <a:ln/>
        </p:spPr>
      </p:sp>
      <p:sp>
        <p:nvSpPr>
          <p:cNvPr id="87" name="Text 85"/>
          <p:cNvSpPr/>
          <p:nvPr/>
        </p:nvSpPr>
        <p:spPr>
          <a:xfrm>
            <a:off x="914400" y="4979591"/>
            <a:ext cx="1117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Pince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2152650" y="4756085"/>
            <a:ext cx="1947333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260600" y="4838635"/>
            <a:ext cx="178337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Gépház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2260600" y="50799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91" name="Text 89"/>
          <p:cNvSpPr/>
          <p:nvPr/>
        </p:nvSpPr>
        <p:spPr>
          <a:xfrm>
            <a:off x="2235200" y="50799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2565400" y="50799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93" name="Text 91"/>
          <p:cNvSpPr/>
          <p:nvPr/>
        </p:nvSpPr>
        <p:spPr>
          <a:xfrm>
            <a:off x="2540000" y="50799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2870200" y="50799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95" name="Text 93"/>
          <p:cNvSpPr/>
          <p:nvPr/>
        </p:nvSpPr>
        <p:spPr>
          <a:xfrm>
            <a:off x="2844800" y="50799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175000" y="50799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97" name="Text 95"/>
          <p:cNvSpPr/>
          <p:nvPr/>
        </p:nvSpPr>
        <p:spPr>
          <a:xfrm>
            <a:off x="3149600" y="50799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4176183" y="4756085"/>
            <a:ext cx="1947333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284133" y="4838635"/>
            <a:ext cx="178337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Wellness, uszoda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4284133" y="50799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101" name="Text 99"/>
          <p:cNvSpPr/>
          <p:nvPr/>
        </p:nvSpPr>
        <p:spPr>
          <a:xfrm>
            <a:off x="4258733" y="50799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588933" y="50799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103" name="Text 101"/>
          <p:cNvSpPr/>
          <p:nvPr/>
        </p:nvSpPr>
        <p:spPr>
          <a:xfrm>
            <a:off x="4563533" y="50799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6199717" y="4756085"/>
            <a:ext cx="1947333" cy="660400"/>
          </a:xfrm>
          <a:prstGeom prst="roundRect">
            <a:avLst>
              <a:gd name="adj" fmla="val 8654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307667" y="4838635"/>
            <a:ext cx="178337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Mosoda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6307667" y="507993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107" name="Text 105"/>
          <p:cNvSpPr/>
          <p:nvPr/>
        </p:nvSpPr>
        <p:spPr>
          <a:xfrm>
            <a:off x="6282267" y="507993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8464550" y="1809685"/>
            <a:ext cx="2908300" cy="3817541"/>
          </a:xfrm>
          <a:prstGeom prst="roundRect">
            <a:avLst>
              <a:gd name="adj" fmla="val 2838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623300" y="1968435"/>
            <a:ext cx="26685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Jelmagyarázat</a:t>
            </a:r>
            <a:endParaRPr lang="en-US" sz="1500" dirty="0"/>
          </a:p>
        </p:txBody>
      </p:sp>
      <p:sp>
        <p:nvSpPr>
          <p:cNvPr id="110" name="Text 108"/>
          <p:cNvSpPr/>
          <p:nvPr/>
        </p:nvSpPr>
        <p:spPr>
          <a:xfrm>
            <a:off x="8623300" y="2247835"/>
            <a:ext cx="26685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Vendégkomfort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8623300" y="251195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112" name="Text 110"/>
          <p:cNvSpPr/>
          <p:nvPr/>
        </p:nvSpPr>
        <p:spPr>
          <a:xfrm>
            <a:off x="8597900" y="251195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8978900" y="2539870"/>
            <a:ext cx="124241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Jelenlét-érzékelő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8623300" y="281675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115" name="Text 113"/>
          <p:cNvSpPr/>
          <p:nvPr/>
        </p:nvSpPr>
        <p:spPr>
          <a:xfrm>
            <a:off x="8597900" y="281675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8978900" y="2844670"/>
            <a:ext cx="1421672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Hő- és páraérzékelő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8623300" y="312155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118" name="Text 116"/>
          <p:cNvSpPr/>
          <p:nvPr/>
        </p:nvSpPr>
        <p:spPr>
          <a:xfrm>
            <a:off x="8597900" y="312155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200" dirty="0"/>
          </a:p>
        </p:txBody>
      </p:sp>
      <p:sp>
        <p:nvSpPr>
          <p:cNvPr id="119" name="Text 117"/>
          <p:cNvSpPr/>
          <p:nvPr/>
        </p:nvSpPr>
        <p:spPr>
          <a:xfrm>
            <a:off x="8978900" y="3149470"/>
            <a:ext cx="950185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CO₂-érzékelő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8623300" y="342635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7706B"/>
          </a:solidFill>
          <a:ln/>
        </p:spPr>
      </p:sp>
      <p:sp>
        <p:nvSpPr>
          <p:cNvPr id="121" name="Text 119"/>
          <p:cNvSpPr/>
          <p:nvPr/>
        </p:nvSpPr>
        <p:spPr>
          <a:xfrm>
            <a:off x="8597900" y="3426355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</a:t>
            </a:r>
            <a:endParaRPr lang="en-US" sz="1200" dirty="0"/>
          </a:p>
        </p:txBody>
      </p:sp>
      <p:sp>
        <p:nvSpPr>
          <p:cNvPr id="122" name="Text 120"/>
          <p:cNvSpPr/>
          <p:nvPr/>
        </p:nvSpPr>
        <p:spPr>
          <a:xfrm>
            <a:off x="8978900" y="3454270"/>
            <a:ext cx="149006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Ablaknyitás-érzékelő</a:t>
            </a:r>
            <a:endParaRPr lang="en-US" sz="1200" dirty="0"/>
          </a:p>
        </p:txBody>
      </p:sp>
      <p:sp>
        <p:nvSpPr>
          <p:cNvPr id="123" name="Text 121"/>
          <p:cNvSpPr/>
          <p:nvPr/>
        </p:nvSpPr>
        <p:spPr>
          <a:xfrm>
            <a:off x="8623300" y="3731155"/>
            <a:ext cx="26685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Műszaki felügyelet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8623300" y="3995276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125" name="Text 123"/>
          <p:cNvSpPr/>
          <p:nvPr/>
        </p:nvSpPr>
        <p:spPr>
          <a:xfrm>
            <a:off x="8597900" y="3995276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</a:t>
            </a:r>
            <a:endParaRPr lang="en-US" sz="1200" dirty="0"/>
          </a:p>
        </p:txBody>
      </p:sp>
      <p:sp>
        <p:nvSpPr>
          <p:cNvPr id="126" name="Text 124"/>
          <p:cNvSpPr/>
          <p:nvPr/>
        </p:nvSpPr>
        <p:spPr>
          <a:xfrm>
            <a:off x="8978900" y="4023190"/>
            <a:ext cx="1271852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Szivárgásérzékelő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623300" y="4300076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128" name="Text 126"/>
          <p:cNvSpPr/>
          <p:nvPr/>
        </p:nvSpPr>
        <p:spPr>
          <a:xfrm>
            <a:off x="8597900" y="4300076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200" dirty="0"/>
          </a:p>
        </p:txBody>
      </p:sp>
      <p:sp>
        <p:nvSpPr>
          <p:cNvPr id="129" name="Text 127"/>
          <p:cNvSpPr/>
          <p:nvPr/>
        </p:nvSpPr>
        <p:spPr>
          <a:xfrm>
            <a:off x="8978900" y="4327990"/>
            <a:ext cx="1503826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Átfolyásmérő (vízóra)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8623300" y="4604876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131" name="Text 129"/>
          <p:cNvSpPr/>
          <p:nvPr/>
        </p:nvSpPr>
        <p:spPr>
          <a:xfrm>
            <a:off x="8597900" y="4604876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200" dirty="0"/>
          </a:p>
        </p:txBody>
      </p:sp>
      <p:sp>
        <p:nvSpPr>
          <p:cNvPr id="132" name="Text 130"/>
          <p:cNvSpPr/>
          <p:nvPr/>
        </p:nvSpPr>
        <p:spPr>
          <a:xfrm>
            <a:off x="8978900" y="4632790"/>
            <a:ext cx="153914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Energiamérő (almérő)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623300" y="4909676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134" name="Text 132"/>
          <p:cNvSpPr/>
          <p:nvPr/>
        </p:nvSpPr>
        <p:spPr>
          <a:xfrm>
            <a:off x="8597900" y="4909676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endParaRPr lang="en-US" sz="1200" dirty="0"/>
          </a:p>
        </p:txBody>
      </p:sp>
      <p:sp>
        <p:nvSpPr>
          <p:cNvPr id="135" name="Text 133"/>
          <p:cNvSpPr/>
          <p:nvPr/>
        </p:nvSpPr>
        <p:spPr>
          <a:xfrm>
            <a:off x="8978900" y="4937590"/>
            <a:ext cx="1117798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Rezgésérzékelő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8623300" y="5214476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A53C"/>
          </a:solidFill>
          <a:ln/>
        </p:spPr>
      </p:sp>
      <p:sp>
        <p:nvSpPr>
          <p:cNvPr id="137" name="Text 135"/>
          <p:cNvSpPr/>
          <p:nvPr/>
        </p:nvSpPr>
        <p:spPr>
          <a:xfrm>
            <a:off x="8597900" y="5214476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</a:t>
            </a:r>
            <a:endParaRPr lang="en-US" sz="1200" dirty="0"/>
          </a:p>
        </p:txBody>
      </p:sp>
      <p:sp>
        <p:nvSpPr>
          <p:cNvPr id="138" name="Text 136"/>
          <p:cNvSpPr/>
          <p:nvPr/>
        </p:nvSpPr>
        <p:spPr>
          <a:xfrm>
            <a:off x="8978900" y="5242390"/>
            <a:ext cx="140460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Hűtőkamra-hőmérő</a:t>
            </a:r>
            <a:endParaRPr lang="en-US" sz="1200" dirty="0"/>
          </a:p>
        </p:txBody>
      </p:sp>
      <p:sp>
        <p:nvSpPr>
          <p:cNvPr id="139" name="Text 137"/>
          <p:cNvSpPr/>
          <p:nvPr/>
        </p:nvSpPr>
        <p:spPr>
          <a:xfrm>
            <a:off x="812800" y="6238280"/>
            <a:ext cx="967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Egy tipikus szobaszint mintája minden vendégszintre (2–6. emelet) megismétlődik.</a:t>
            </a:r>
            <a:endParaRPr lang="en-US" sz="1200" dirty="0"/>
          </a:p>
        </p:txBody>
      </p:sp>
      <p:sp>
        <p:nvSpPr>
          <p:cNvPr id="140" name="Text 13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ADATÁTVITEL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Minden helyre a hozzá illő hálózat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09685"/>
            <a:ext cx="2520950" cy="4025900"/>
          </a:xfrm>
          <a:prstGeom prst="roundRect">
            <a:avLst>
              <a:gd name="adj" fmla="val 3275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1993835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LoRaWAN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3300" y="2311335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Eszközök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3300" y="2613555"/>
            <a:ext cx="22172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Minden elemes szenzor: J, K, C, N, valamint V és 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3300" y="3129096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Miért?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3300" y="3431316"/>
            <a:ext cx="221723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Nagy hatótáv vasbeton födémen át, évekig tartó elem, AES-titkosítás. Néhány gateway lefedi az épületet.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05200" y="1809685"/>
            <a:ext cx="2520950" cy="4025900"/>
          </a:xfrm>
          <a:prstGeom prst="roundRect">
            <a:avLst>
              <a:gd name="adj" fmla="val 3275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9350" y="1993835"/>
            <a:ext cx="221723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Vezetékes busz (Modbus, BACnet)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89350" y="2539935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Eszközök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89350" y="2842155"/>
            <a:ext cx="221723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Mérők (E, A, R), légkezelő- és fan-coil-vezérlők, motoros szelepek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89350" y="3571016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Miért?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89350" y="3873236"/>
            <a:ext cx="221723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Állandó tápellátás, nincs rádiós kiesés: a beavatkozó parancsnak mindig célba kell érnie. A gépészet ma is ezt a buszt használja.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1250" y="1809685"/>
            <a:ext cx="2520950" cy="4025900"/>
          </a:xfrm>
          <a:prstGeom prst="roundRect">
            <a:avLst>
              <a:gd name="adj" fmla="val 3275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5400" y="1993835"/>
            <a:ext cx="221723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Wi-Fi, Zigbee, Bluetooth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75400" y="2539935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Döntés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5400" y="2842155"/>
            <a:ext cx="221723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Szenzorokhoz nem használjuk; Wi-Fi csak a dashboard-tableteknek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75400" y="3571016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Miért nem?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75400" y="3873236"/>
            <a:ext cx="2217230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Wi-Fi elemes eszközön sokat fogyaszt, és a vendéghálózatra nem teszünk épületvezérlést. Zigbee, Bluetooth: rövid hatótáv vasbetonban, sok ismétlő kellene.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70950" y="1803335"/>
            <a:ext cx="2508250" cy="4038600"/>
          </a:xfrm>
          <a:prstGeom prst="roundRect">
            <a:avLst>
              <a:gd name="adj" fmla="val 3544"/>
            </a:avLst>
          </a:prstGeom>
          <a:solidFill>
            <a:srgbClr val="14222F"/>
          </a:solidFill>
          <a:ln/>
        </p:spPr>
      </p:sp>
      <p:sp>
        <p:nvSpPr>
          <p:cNvPr id="23" name="Text 21"/>
          <p:cNvSpPr/>
          <p:nvPr/>
        </p:nvSpPr>
        <p:spPr>
          <a:xfrm>
            <a:off x="9048750" y="1981135"/>
            <a:ext cx="221723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Ethernet, külön IoT hálózat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48750" y="2527235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C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Eszközök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48750" y="2829455"/>
            <a:ext cx="221723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Gateway-ek → helyi edge szerver → felhő, titkosítva; 4G-tartalék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48750" y="3558316"/>
            <a:ext cx="2217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C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Miért?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48750" y="3860536"/>
            <a:ext cx="221723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Megbízható gerinc. Külön OT-VLAN, tűzfallal elválasztva a vendég- és az irodai hálózattól.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967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Rádió ott, ahol utólag szerelünk; vezeték ott, ahol beavatkozunk.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· RENDSZERÁBRA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Az adat útja a szenzortól a szelepig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47850"/>
            <a:ext cx="1765300" cy="1701800"/>
          </a:xfrm>
          <a:prstGeom prst="roundRect">
            <a:avLst>
              <a:gd name="adj" fmla="val 4851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981200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Érzékelés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223262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Szenzorok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500" y="2499320"/>
            <a:ext cx="154940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J, K, C, N a vendégtereken; V, A, E, R, H a gépészetben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6250" y="1847850"/>
            <a:ext cx="1765300" cy="1701800"/>
          </a:xfrm>
          <a:prstGeom prst="roundRect">
            <a:avLst>
              <a:gd name="adj" fmla="val 4851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9600" y="1981200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Helyi hálózat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9600" y="223262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Rádió + busz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49600" y="2499320"/>
            <a:ext cx="1549400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LoRaWAN, Modbus, BACnet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3350" y="1847850"/>
            <a:ext cx="1765300" cy="1701800"/>
          </a:xfrm>
          <a:prstGeom prst="roundRect">
            <a:avLst>
              <a:gd name="adj" fmla="val 4851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6700" y="1981200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Gateway-ek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6700" y="223262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Szintenként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6700" y="2499320"/>
            <a:ext cx="1549400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protokollok fordítása, pufferelés, titkosítás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4100" y="1841500"/>
            <a:ext cx="1778000" cy="1714500"/>
          </a:xfrm>
          <a:prstGeom prst="roundRect">
            <a:avLst>
              <a:gd name="adj" fmla="val 5185"/>
            </a:avLst>
          </a:prstGeom>
          <a:solidFill>
            <a:srgbClr val="14222F"/>
          </a:solidFill>
          <a:ln/>
        </p:spPr>
      </p:sp>
      <p:sp>
        <p:nvSpPr>
          <p:cNvPr id="17" name="Text 15"/>
          <p:cNvSpPr/>
          <p:nvPr/>
        </p:nvSpPr>
        <p:spPr>
          <a:xfrm>
            <a:off x="7531100" y="196850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C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Helyi BMS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31100" y="2219920"/>
            <a:ext cx="157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Edge szerver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31100" y="2486620"/>
            <a:ext cx="157480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szabályok, automatikák; internet nélkül is működik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7550" y="1847850"/>
            <a:ext cx="1765300" cy="1701800"/>
          </a:xfrm>
          <a:prstGeom prst="roundRect">
            <a:avLst>
              <a:gd name="adj" fmla="val 4851"/>
            </a:avLst>
          </a:prstGeom>
          <a:solidFill>
            <a:srgbClr val="FCFBF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40900" y="1981200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· Felhő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40900" y="223262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Tárolás, elemzés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40900" y="2499320"/>
            <a:ext cx="1549400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idősoros adatbázis, trendek, riportok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800" y="4127500"/>
            <a:ext cx="6172200" cy="1206500"/>
          </a:xfrm>
          <a:prstGeom prst="roundRect">
            <a:avLst>
              <a:gd name="adj" fmla="val 7368"/>
            </a:avLst>
          </a:prstGeom>
          <a:solidFill>
            <a:srgbClr val="E3A53C"/>
          </a:solidFill>
          <a:ln/>
        </p:spPr>
      </p:sp>
      <p:sp>
        <p:nvSpPr>
          <p:cNvPr id="25" name="Text 23"/>
          <p:cNvSpPr/>
          <p:nvPr/>
        </p:nvSpPr>
        <p:spPr>
          <a:xfrm>
            <a:off x="965200" y="4254500"/>
            <a:ext cx="6043422" cy="252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Beavatkozók – a visszacsatolás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5200" y="4570016"/>
            <a:ext cx="1362538" cy="289520"/>
          </a:xfrm>
          <a:prstGeom prst="roundRect">
            <a:avLst>
              <a:gd name="adj" fmla="val 50000"/>
            </a:avLst>
          </a:prstGeom>
          <a:solidFill>
            <a:srgbClr val="F5F3EE"/>
          </a:solidFill>
          <a:ln/>
        </p:spPr>
      </p:sp>
      <p:sp>
        <p:nvSpPr>
          <p:cNvPr id="27" name="Text 25"/>
          <p:cNvSpPr/>
          <p:nvPr/>
        </p:nvSpPr>
        <p:spPr>
          <a:xfrm>
            <a:off x="1066800" y="4608116"/>
            <a:ext cx="12101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fan-coil szelepek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91238" y="4570016"/>
            <a:ext cx="1799894" cy="289520"/>
          </a:xfrm>
          <a:prstGeom prst="roundRect">
            <a:avLst>
              <a:gd name="adj" fmla="val 50000"/>
            </a:avLst>
          </a:prstGeom>
          <a:solidFill>
            <a:srgbClr val="F5F3EE"/>
          </a:solidFill>
          <a:ln/>
        </p:spPr>
      </p:sp>
      <p:sp>
        <p:nvSpPr>
          <p:cNvPr id="29" name="Text 27"/>
          <p:cNvSpPr/>
          <p:nvPr/>
        </p:nvSpPr>
        <p:spPr>
          <a:xfrm>
            <a:off x="2492838" y="4608116"/>
            <a:ext cx="16474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légkezelő, csappantyúk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54633" y="4570016"/>
            <a:ext cx="1240301" cy="289520"/>
          </a:xfrm>
          <a:prstGeom prst="roundRect">
            <a:avLst>
              <a:gd name="adj" fmla="val 50000"/>
            </a:avLst>
          </a:prstGeom>
          <a:solidFill>
            <a:srgbClr val="F5F3EE"/>
          </a:solidFill>
          <a:ln/>
        </p:spPr>
      </p:sp>
      <p:sp>
        <p:nvSpPr>
          <p:cNvPr id="31" name="Text 29"/>
          <p:cNvSpPr/>
          <p:nvPr/>
        </p:nvSpPr>
        <p:spPr>
          <a:xfrm>
            <a:off x="4356233" y="4608116"/>
            <a:ext cx="10879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világítás (DALI)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5200" y="4923036"/>
            <a:ext cx="1885553" cy="289520"/>
          </a:xfrm>
          <a:prstGeom prst="roundRect">
            <a:avLst>
              <a:gd name="adj" fmla="val 50000"/>
            </a:avLst>
          </a:prstGeom>
          <a:solidFill>
            <a:srgbClr val="F5F3EE"/>
          </a:solidFill>
          <a:ln/>
        </p:spPr>
      </p:sp>
      <p:sp>
        <p:nvSpPr>
          <p:cNvPr id="33" name="Text 31"/>
          <p:cNvSpPr/>
          <p:nvPr/>
        </p:nvSpPr>
        <p:spPr>
          <a:xfrm>
            <a:off x="1066800" y="4961136"/>
            <a:ext cx="17331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motoros vízelzáró szelep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10450" y="4133850"/>
            <a:ext cx="1765300" cy="1193800"/>
          </a:xfrm>
          <a:prstGeom prst="roundRect">
            <a:avLst>
              <a:gd name="adj" fmla="val 6915"/>
            </a:avLst>
          </a:prstGeom>
          <a:solidFill>
            <a:srgbClr val="FCFBF8"/>
          </a:solidFill>
          <a:ln w="12700">
            <a:solidFill>
              <a:srgbClr val="8B959F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7543800" y="426720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PMS, CMMS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543800" y="4533900"/>
            <a:ext cx="154940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foglalás, check-in / check-out; munkalapok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01200" y="4127500"/>
            <a:ext cx="1778000" cy="1206500"/>
          </a:xfrm>
          <a:prstGeom prst="roundRect">
            <a:avLst>
              <a:gd name="adj" fmla="val 7368"/>
            </a:avLst>
          </a:prstGeom>
          <a:solidFill>
            <a:srgbClr val="17706B"/>
          </a:solidFill>
          <a:ln/>
        </p:spPr>
      </p:sp>
      <p:sp>
        <p:nvSpPr>
          <p:cNvPr id="38" name="Text 36"/>
          <p:cNvSpPr/>
          <p:nvPr/>
        </p:nvSpPr>
        <p:spPr>
          <a:xfrm>
            <a:off x="9728200" y="4254500"/>
            <a:ext cx="157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Felületek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728200" y="4521200"/>
            <a:ext cx="1574800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dashboard, mobil app, push / SMS</a:t>
            </a:r>
            <a:endParaRPr lang="en-US" sz="1200" dirty="0"/>
          </a:p>
        </p:txBody>
      </p:sp>
      <p:pic>
        <p:nvPicPr>
          <p:cNvPr id="40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40000" y="2647950"/>
            <a:ext cx="520700" cy="101600"/>
          </a:xfrm>
          <a:prstGeom prst="rect">
            <a:avLst/>
          </a:prstGeom>
        </p:spPr>
      </p:pic>
      <p:pic>
        <p:nvPicPr>
          <p:cNvPr id="4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37100" y="2647950"/>
            <a:ext cx="520700" cy="101600"/>
          </a:xfrm>
          <a:prstGeom prst="rect">
            <a:avLst/>
          </a:prstGeom>
        </p:spPr>
      </p:pic>
      <p:pic>
        <p:nvPicPr>
          <p:cNvPr id="42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34200" y="2647950"/>
            <a:ext cx="520700" cy="101600"/>
          </a:xfrm>
          <a:prstGeom prst="rect">
            <a:avLst/>
          </a:prstGeom>
        </p:spPr>
      </p:pic>
      <p:pic>
        <p:nvPicPr>
          <p:cNvPr id="43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31300" y="2647950"/>
            <a:ext cx="520700" cy="101600"/>
          </a:xfrm>
          <a:prstGeom prst="rect">
            <a:avLst/>
          </a:prstGeom>
        </p:spPr>
      </p:pic>
      <p:pic>
        <p:nvPicPr>
          <p:cNvPr id="44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45200" y="3505200"/>
            <a:ext cx="101600" cy="673100"/>
          </a:xfrm>
          <a:prstGeom prst="rect">
            <a:avLst/>
          </a:prstGeom>
        </p:spPr>
      </p:pic>
      <p:pic>
        <p:nvPicPr>
          <p:cNvPr id="45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42300" y="3505200"/>
            <a:ext cx="101600" cy="673100"/>
          </a:xfrm>
          <a:prstGeom prst="rect">
            <a:avLst/>
          </a:prstGeom>
        </p:spPr>
      </p:pic>
      <p:pic>
        <p:nvPicPr>
          <p:cNvPr id="46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439400" y="3505200"/>
            <a:ext cx="101600" cy="6731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812800" y="6238280"/>
            <a:ext cx="967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 automatika helyben (edge) dönt, a felhő elemez és megjelenít: internetkimaradáskor is működik az épület.</a:t>
            </a:r>
            <a:endParaRPr lang="en-US" sz="1200" dirty="0"/>
          </a:p>
        </p:txBody>
      </p:sp>
      <p:sp>
        <p:nvSpPr>
          <p:cNvPr id="48" name="Text 3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· ADATFELHASZNÁLÁS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Mit csinál a rendszer az adatokkal?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86508"/>
            <a:ext cx="10566400" cy="0"/>
          </a:xfrm>
          <a:prstGeom prst="line">
            <a:avLst/>
          </a:prstGeom>
          <a:noFill/>
          <a:ln w="12700">
            <a:solidFill>
              <a:srgbClr val="1422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03338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16200" y="1803338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TÁROLÁS, TREND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5050" y="1803338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RIASZTÁS, HA…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73900" y="1803338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AUTOMATIKUS REAKCIÓ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02750" y="1803338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TOVÁBBÍTÁS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2421537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150008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 · Jelenlét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16200" y="2150008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kihasználtság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5050" y="2150008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73900" y="2150008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takarék mód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02750" y="2150008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2753386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2481858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 · Hő / pára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16200" y="2481858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komfortstatisztika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5050" y="2481858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pára &gt; 70% tartósan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73900" y="2481858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alapjel-szabályozás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02750" y="2481858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800" y="3085242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800" y="2813714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 · CO₂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16200" y="2813714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rendezvényenként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5050" y="2813714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&gt; 1400 ppm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73900" y="2813714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szellőzés &gt; 1000 ppm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02750" y="2813714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rendezvényszervező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3417098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800" y="3145569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 · Ablak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16200" y="3145569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nyitvatartási idő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5050" y="3145569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éjjel nyitva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73900" y="3145569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fan-coil leáll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302750" y="3145569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2800" y="3748947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2800" y="3477419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· Energia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16200" y="3477419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napi/havi trend, ESG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5050" y="3477419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szokatlan csúcs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73900" y="3477419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02750" y="3477419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havi vezetői riport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2800" y="4080803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2800" y="3809274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V, A · Víz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616200" y="3809274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éjszakai minimum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45050" y="3809274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szivárgás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73900" y="3809274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vízelzáró szelep zár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302750" y="3809274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CMMS-munkalap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12800" y="4412659"/>
            <a:ext cx="10566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2800" y="4141130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 · Rezgés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616200" y="4141130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kopási trend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45050" y="4141130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tartós emelkedés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073900" y="4141130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302750" y="4141130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CMMS-munkalap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12800" y="4472980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 · Hűtőkamra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616200" y="4472980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HACCP-napló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845050" y="4472980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&gt; 5 °C, 15 percig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73900" y="4472980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 (emberi döntés)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302750" y="4472980"/>
            <a:ext cx="21387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konyhafőnök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19150" y="4902200"/>
            <a:ext cx="10553700" cy="439407"/>
          </a:xfrm>
          <a:prstGeom prst="roundRect">
            <a:avLst>
              <a:gd name="adj" fmla="val 18787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2500" y="5022850"/>
            <a:ext cx="509257" cy="2235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Példa: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487157" y="4984750"/>
            <a:ext cx="1448395" cy="274307"/>
          </a:xfrm>
          <a:prstGeom prst="roundRect">
            <a:avLst>
              <a:gd name="adj" fmla="val 50000"/>
            </a:avLst>
          </a:prstGeom>
          <a:solidFill>
            <a:srgbClr val="DDEEEA"/>
          </a:solidFill>
          <a:ln/>
        </p:spPr>
      </p:sp>
      <p:sp>
        <p:nvSpPr>
          <p:cNvPr id="60" name="Text 58"/>
          <p:cNvSpPr/>
          <p:nvPr/>
        </p:nvSpPr>
        <p:spPr>
          <a:xfrm>
            <a:off x="1576057" y="5022850"/>
            <a:ext cx="1321395" cy="2235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Hűtőkamra: 7,2 °C</a:t>
            </a:r>
            <a:endParaRPr lang="en-US" sz="1200" dirty="0"/>
          </a:p>
        </p:txBody>
      </p:sp>
      <p:pic>
        <p:nvPicPr>
          <p:cNvPr id="6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11752" y="5058370"/>
            <a:ext cx="228600" cy="127000"/>
          </a:xfrm>
          <a:prstGeom prst="rect">
            <a:avLst/>
          </a:prstGeom>
        </p:spPr>
      </p:pic>
      <p:sp>
        <p:nvSpPr>
          <p:cNvPr id="62" name="Shape 59"/>
          <p:cNvSpPr/>
          <p:nvPr/>
        </p:nvSpPr>
        <p:spPr>
          <a:xfrm>
            <a:off x="3316552" y="4984750"/>
            <a:ext cx="1045435" cy="274307"/>
          </a:xfrm>
          <a:prstGeom prst="roundRect">
            <a:avLst>
              <a:gd name="adj" fmla="val 50000"/>
            </a:avLst>
          </a:prstGeom>
          <a:solidFill>
            <a:srgbClr val="DDEEEA"/>
          </a:solidFill>
          <a:ln/>
        </p:spPr>
      </p:sp>
      <p:sp>
        <p:nvSpPr>
          <p:cNvPr id="63" name="Text 60"/>
          <p:cNvSpPr/>
          <p:nvPr/>
        </p:nvSpPr>
        <p:spPr>
          <a:xfrm>
            <a:off x="3405452" y="5022850"/>
            <a:ext cx="918435" cy="2235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edge szerver</a:t>
            </a:r>
            <a:endParaRPr lang="en-US" sz="1200" dirty="0"/>
          </a:p>
        </p:txBody>
      </p:sp>
      <p:pic>
        <p:nvPicPr>
          <p:cNvPr id="6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8187" y="5058370"/>
            <a:ext cx="228600" cy="127000"/>
          </a:xfrm>
          <a:prstGeom prst="rect">
            <a:avLst/>
          </a:prstGeom>
        </p:spPr>
      </p:pic>
      <p:sp>
        <p:nvSpPr>
          <p:cNvPr id="65" name="Shape 61"/>
          <p:cNvSpPr/>
          <p:nvPr/>
        </p:nvSpPr>
        <p:spPr>
          <a:xfrm>
            <a:off x="4742987" y="4984750"/>
            <a:ext cx="1281509" cy="274307"/>
          </a:xfrm>
          <a:prstGeom prst="roundRect">
            <a:avLst>
              <a:gd name="adj" fmla="val 50000"/>
            </a:avLst>
          </a:prstGeom>
          <a:solidFill>
            <a:srgbClr val="DDEEEA"/>
          </a:solidFill>
          <a:ln/>
        </p:spPr>
      </p:sp>
      <p:sp>
        <p:nvSpPr>
          <p:cNvPr id="66" name="Text 62"/>
          <p:cNvSpPr/>
          <p:nvPr/>
        </p:nvSpPr>
        <p:spPr>
          <a:xfrm>
            <a:off x="4831887" y="5022850"/>
            <a:ext cx="1154509" cy="2235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&gt; 5 °C, 15 perce</a:t>
            </a:r>
            <a:endParaRPr lang="en-US" sz="1200" dirty="0"/>
          </a:p>
        </p:txBody>
      </p:sp>
      <p:pic>
        <p:nvPicPr>
          <p:cNvPr id="67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00697" y="5058370"/>
            <a:ext cx="228600" cy="127000"/>
          </a:xfrm>
          <a:prstGeom prst="rect">
            <a:avLst/>
          </a:prstGeom>
        </p:spPr>
      </p:pic>
      <p:sp>
        <p:nvSpPr>
          <p:cNvPr id="68" name="Shape 63"/>
          <p:cNvSpPr/>
          <p:nvPr/>
        </p:nvSpPr>
        <p:spPr>
          <a:xfrm>
            <a:off x="6405497" y="4984750"/>
            <a:ext cx="705776" cy="274307"/>
          </a:xfrm>
          <a:prstGeom prst="roundRect">
            <a:avLst>
              <a:gd name="adj" fmla="val 50000"/>
            </a:avLst>
          </a:prstGeom>
          <a:solidFill>
            <a:srgbClr val="F6E4C0"/>
          </a:solidFill>
          <a:ln/>
        </p:spPr>
      </p:sp>
      <p:sp>
        <p:nvSpPr>
          <p:cNvPr id="69" name="Text 64"/>
          <p:cNvSpPr/>
          <p:nvPr/>
        </p:nvSpPr>
        <p:spPr>
          <a:xfrm>
            <a:off x="6494397" y="5022850"/>
            <a:ext cx="578776" cy="2235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riasztás</a:t>
            </a:r>
            <a:endParaRPr lang="en-US" sz="1200" dirty="0"/>
          </a:p>
        </p:txBody>
      </p:sp>
      <p:pic>
        <p:nvPicPr>
          <p:cNvPr id="70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87473" y="5058370"/>
            <a:ext cx="228600" cy="127000"/>
          </a:xfrm>
          <a:prstGeom prst="rect">
            <a:avLst/>
          </a:prstGeom>
        </p:spPr>
      </p:pic>
      <p:sp>
        <p:nvSpPr>
          <p:cNvPr id="71" name="Shape 65"/>
          <p:cNvSpPr/>
          <p:nvPr/>
        </p:nvSpPr>
        <p:spPr>
          <a:xfrm>
            <a:off x="7492273" y="4984750"/>
            <a:ext cx="1796785" cy="274307"/>
          </a:xfrm>
          <a:prstGeom prst="roundRect">
            <a:avLst>
              <a:gd name="adj" fmla="val 50000"/>
            </a:avLst>
          </a:prstGeom>
          <a:solidFill>
            <a:srgbClr val="F6E4C0"/>
          </a:solidFill>
          <a:ln/>
        </p:spPr>
      </p:sp>
      <p:sp>
        <p:nvSpPr>
          <p:cNvPr id="72" name="Text 66"/>
          <p:cNvSpPr/>
          <p:nvPr/>
        </p:nvSpPr>
        <p:spPr>
          <a:xfrm>
            <a:off x="7581173" y="5022850"/>
            <a:ext cx="1669785" cy="2235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 a konyhafőnöknek</a:t>
            </a:r>
            <a:endParaRPr lang="en-US" sz="1200" dirty="0"/>
          </a:p>
        </p:txBody>
      </p:sp>
      <p:sp>
        <p:nvSpPr>
          <p:cNvPr id="73" name="Text 67"/>
          <p:cNvSpPr/>
          <p:nvPr/>
        </p:nvSpPr>
        <p:spPr>
          <a:xfrm>
            <a:off x="812800" y="6238280"/>
            <a:ext cx="967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Minden adat élőben megjelenik a dashboardon; a határértékek beállíthatók.</a:t>
            </a:r>
            <a:endParaRPr lang="en-US" sz="1200" dirty="0"/>
          </a:p>
        </p:txBody>
      </p:sp>
      <p:sp>
        <p:nvSpPr>
          <p:cNvPr id="74" name="Text 6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· AUTOMATIZÁLT FOLYAMATOK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Három folyamat, amely magától fut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338"/>
            <a:ext cx="2661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Mérés / esemény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3450" y="1803338"/>
            <a:ext cx="2661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Feltétel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34100" y="1803338"/>
            <a:ext cx="2661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Döntés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94750" y="1803338"/>
            <a:ext cx="2661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Automatikus reakció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2156358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4222F"/>
          </a:solidFill>
          <a:ln/>
        </p:spPr>
      </p:sp>
      <p:sp>
        <p:nvSpPr>
          <p:cNvPr id="9" name="Text 7"/>
          <p:cNvSpPr/>
          <p:nvPr/>
        </p:nvSpPr>
        <p:spPr>
          <a:xfrm>
            <a:off x="787400" y="2156358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5700" y="2169058"/>
            <a:ext cx="383954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Szoba üzemmód a foglaltság szerint </a:t>
            </a:r>
            <a:r>
              <a:rPr lang="en-US" sz="1500" b="1" dirty="0">
                <a:solidFill>
                  <a:srgbClr val="17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(P1)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9150" y="2480208"/>
            <a:ext cx="2349500" cy="617141"/>
          </a:xfrm>
          <a:prstGeom prst="roundRect">
            <a:avLst>
              <a:gd name="adj" fmla="val 13376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9800" y="2575458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PMS check-in / -out, jelenlét (J), ablak (N)</a:t>
            </a:r>
            <a:endParaRPr lang="en-US" sz="1200" dirty="0"/>
          </a:p>
        </p:txBody>
      </p:sp>
      <p:pic>
        <p:nvPicPr>
          <p:cNvPr id="13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51200" y="2725279"/>
            <a:ext cx="228600" cy="127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562350" y="2480208"/>
            <a:ext cx="2349500" cy="617141"/>
          </a:xfrm>
          <a:prstGeom prst="roundRect">
            <a:avLst>
              <a:gd name="adj" fmla="val 13376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3000" y="2575458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Kiadva? Mozgás 20 percen belül? Ablak zárva?</a:t>
            </a:r>
            <a:endParaRPr lang="en-US" sz="1200" dirty="0"/>
          </a:p>
        </p:txBody>
      </p:sp>
      <p:pic>
        <p:nvPicPr>
          <p:cNvPr id="16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94400" y="2725279"/>
            <a:ext cx="228600" cy="127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305550" y="2480208"/>
            <a:ext cx="2349500" cy="617141"/>
          </a:xfrm>
          <a:prstGeom prst="roundRect">
            <a:avLst>
              <a:gd name="adj" fmla="val 13376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26200" y="2575458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KOMFORT · TAKARÉK · STOP (ablak nyitva)</a:t>
            </a:r>
            <a:endParaRPr lang="en-US" sz="1200" dirty="0"/>
          </a:p>
        </p:txBody>
      </p:sp>
      <p:pic>
        <p:nvPicPr>
          <p:cNvPr id="1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37600" y="2725279"/>
            <a:ext cx="228600" cy="1270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042400" y="2473858"/>
            <a:ext cx="2336800" cy="629841"/>
          </a:xfrm>
          <a:prstGeom prst="roundRect">
            <a:avLst>
              <a:gd name="adj" fmla="val 14115"/>
            </a:avLst>
          </a:prstGeom>
          <a:solidFill>
            <a:srgbClr val="17706B"/>
          </a:solidFill>
          <a:ln/>
        </p:spPr>
      </p:sp>
      <p:sp>
        <p:nvSpPr>
          <p:cNvPr id="21" name="Text 16"/>
          <p:cNvSpPr/>
          <p:nvPr/>
        </p:nvSpPr>
        <p:spPr>
          <a:xfrm>
            <a:off x="9156700" y="2562758"/>
            <a:ext cx="2171446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Alapjel 22 / 18 °C, STOP-nál leáll, előfűtés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12800" y="3243399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4222F"/>
          </a:solidFill>
          <a:ln/>
        </p:spPr>
      </p:sp>
      <p:sp>
        <p:nvSpPr>
          <p:cNvPr id="23" name="Text 18"/>
          <p:cNvSpPr/>
          <p:nvPr/>
        </p:nvSpPr>
        <p:spPr>
          <a:xfrm>
            <a:off x="787400" y="3243399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55700" y="3256099"/>
            <a:ext cx="48757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Igény szerinti szellőzés a konferenciateremben </a:t>
            </a:r>
            <a:r>
              <a:rPr lang="en-US" sz="1500" b="1" dirty="0">
                <a:solidFill>
                  <a:srgbClr val="17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(P2)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819150" y="3567249"/>
            <a:ext cx="2349500" cy="617141"/>
          </a:xfrm>
          <a:prstGeom prst="roundRect">
            <a:avLst>
              <a:gd name="adj" fmla="val 13376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39800" y="3662499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CO₂-szint (C) percenként, jelenlét (J)</a:t>
            </a:r>
            <a:endParaRPr lang="en-US" sz="1200" dirty="0"/>
          </a:p>
        </p:txBody>
      </p:sp>
      <p:pic>
        <p:nvPicPr>
          <p:cNvPr id="27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51200" y="3812319"/>
            <a:ext cx="228600" cy="1270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3562350" y="3567249"/>
            <a:ext cx="2349500" cy="617141"/>
          </a:xfrm>
          <a:prstGeom prst="roundRect">
            <a:avLst>
              <a:gd name="adj" fmla="val 13376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683000" y="3662499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CO₂ &gt; 1000 ppm? Vagy 15 perce üres a terem?</a:t>
            </a:r>
            <a:endParaRPr lang="en-US" sz="1200" dirty="0"/>
          </a:p>
        </p:txBody>
      </p:sp>
      <p:pic>
        <p:nvPicPr>
          <p:cNvPr id="30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94400" y="3812319"/>
            <a:ext cx="228600" cy="12700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305550" y="3567249"/>
            <a:ext cx="2349500" cy="617141"/>
          </a:xfrm>
          <a:prstGeom prst="roundRect">
            <a:avLst>
              <a:gd name="adj" fmla="val 13376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426200" y="3662499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Több friss levegő kell, vagy elég a minimum</a:t>
            </a:r>
            <a:endParaRPr lang="en-US" sz="1200" dirty="0"/>
          </a:p>
        </p:txBody>
      </p:sp>
      <p:pic>
        <p:nvPicPr>
          <p:cNvPr id="33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37600" y="3812319"/>
            <a:ext cx="228600" cy="1270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9042400" y="3560899"/>
            <a:ext cx="2336800" cy="629841"/>
          </a:xfrm>
          <a:prstGeom prst="roundRect">
            <a:avLst>
              <a:gd name="adj" fmla="val 14115"/>
            </a:avLst>
          </a:prstGeom>
          <a:solidFill>
            <a:srgbClr val="17706B"/>
          </a:solidFill>
          <a:ln/>
        </p:spPr>
      </p:sp>
      <p:sp>
        <p:nvSpPr>
          <p:cNvPr id="35" name="Text 27"/>
          <p:cNvSpPr/>
          <p:nvPr/>
        </p:nvSpPr>
        <p:spPr>
          <a:xfrm>
            <a:off x="9156700" y="3649799"/>
            <a:ext cx="2171446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VAV-csappantyú nyit; 1400 ppm felett riaszt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12800" y="433044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4222F"/>
          </a:solidFill>
          <a:ln/>
        </p:spPr>
      </p:sp>
      <p:sp>
        <p:nvSpPr>
          <p:cNvPr id="37" name="Text 29"/>
          <p:cNvSpPr/>
          <p:nvPr/>
        </p:nvSpPr>
        <p:spPr>
          <a:xfrm>
            <a:off x="787400" y="4330440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1155700" y="4343140"/>
            <a:ext cx="36146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Vízszivárgás: automatikus elzárás </a:t>
            </a:r>
            <a:r>
              <a:rPr lang="en-US" sz="1500" b="1" dirty="0">
                <a:solidFill>
                  <a:srgbClr val="8A5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(P3)</a:t>
            </a:r>
            <a:endParaRPr lang="en-US" sz="1500" dirty="0"/>
          </a:p>
        </p:txBody>
      </p:sp>
      <p:sp>
        <p:nvSpPr>
          <p:cNvPr id="39" name="Shape 31"/>
          <p:cNvSpPr/>
          <p:nvPr/>
        </p:nvSpPr>
        <p:spPr>
          <a:xfrm>
            <a:off x="819150" y="4654290"/>
            <a:ext cx="2349500" cy="617141"/>
          </a:xfrm>
          <a:prstGeom prst="roundRect">
            <a:avLst>
              <a:gd name="adj" fmla="val 13376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939800" y="4749540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Szivárgásérzékelő (V) vizet jelez a fürdőben</a:t>
            </a:r>
            <a:endParaRPr lang="en-US" sz="1200" dirty="0"/>
          </a:p>
        </p:txBody>
      </p:sp>
      <p:pic>
        <p:nvPicPr>
          <p:cNvPr id="41" name="Image 6" descr="arrow-righ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251200" y="4899360"/>
            <a:ext cx="228600" cy="12700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3562350" y="4654290"/>
            <a:ext cx="2349500" cy="617141"/>
          </a:xfrm>
          <a:prstGeom prst="roundRect">
            <a:avLst>
              <a:gd name="adj" fmla="val 13376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3683000" y="4749540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Víz érzékelve – azonnal, késleltetés nélkül</a:t>
            </a:r>
            <a:endParaRPr lang="en-US" sz="1200" dirty="0"/>
          </a:p>
        </p:txBody>
      </p:sp>
      <p:pic>
        <p:nvPicPr>
          <p:cNvPr id="44" name="Image 7" descr="arrow-righ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994400" y="4899360"/>
            <a:ext cx="228600" cy="127000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6305550" y="4654290"/>
            <a:ext cx="2349500" cy="617141"/>
          </a:xfrm>
          <a:prstGeom prst="roundRect">
            <a:avLst>
              <a:gd name="adj" fmla="val 13376"/>
            </a:avLst>
          </a:prstGeom>
          <a:solidFill>
            <a:srgbClr val="FCFBF8"/>
          </a:solidFill>
          <a:ln w="12700">
            <a:solidFill>
              <a:srgbClr val="E2DED5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6426200" y="4749540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Kritikus esemény: melyik vízág érintett?</a:t>
            </a:r>
            <a:endParaRPr lang="en-US" sz="1200" dirty="0"/>
          </a:p>
        </p:txBody>
      </p:sp>
      <p:pic>
        <p:nvPicPr>
          <p:cNvPr id="47" name="Image 8" descr="arrow-right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737600" y="4899360"/>
            <a:ext cx="228600" cy="127000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9042400" y="4647940"/>
            <a:ext cx="2336800" cy="629841"/>
          </a:xfrm>
          <a:prstGeom prst="roundRect">
            <a:avLst>
              <a:gd name="adj" fmla="val 14115"/>
            </a:avLst>
          </a:prstGeom>
          <a:solidFill>
            <a:srgbClr val="17706B"/>
          </a:solidFill>
          <a:ln/>
        </p:spPr>
      </p:sp>
      <p:sp>
        <p:nvSpPr>
          <p:cNvPr id="49" name="Text 38"/>
          <p:cNvSpPr/>
          <p:nvPr/>
        </p:nvSpPr>
        <p:spPr>
          <a:xfrm>
            <a:off x="9156700" y="4736840"/>
            <a:ext cx="2171446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Szelep zár; push a karbantartónak, munkalap</a:t>
            </a:r>
            <a:endParaRPr lang="en-US" sz="1200" dirty="0"/>
          </a:p>
        </p:txBody>
      </p:sp>
      <p:sp>
        <p:nvSpPr>
          <p:cNvPr id="50" name="Text 39"/>
          <p:cNvSpPr/>
          <p:nvPr/>
        </p:nvSpPr>
        <p:spPr>
          <a:xfrm>
            <a:off x="812800" y="6238280"/>
            <a:ext cx="967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Minden automatika kézzel felülbírálható – a vendég a szobában ±3 °C-ot maga állíthat.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· FELHASZNÁLÓI FELÜLET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Egy felület, szerepkörönként más nézet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38"/>
            <a:ext cx="7493000" cy="4012803"/>
          </a:xfrm>
          <a:prstGeom prst="roundRect">
            <a:avLst>
              <a:gd name="adj" fmla="val 3798"/>
            </a:avLst>
          </a:prstGeom>
          <a:solidFill>
            <a:srgbClr val="14222F"/>
          </a:solidFill>
          <a:ln/>
          <a:effectLst>
            <a:outerShdw sx="100000" sy="100000" kx="0" ky="0" algn="bl" rotWithShape="0" blurRad="254000" dist="101600" dir="5400000">
              <a:srgbClr val="14222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1700" y="1892238"/>
            <a:ext cx="7315200" cy="3835003"/>
          </a:xfrm>
          <a:prstGeom prst="roundRect">
            <a:avLst>
              <a:gd name="adj" fmla="val 1987"/>
            </a:avLst>
          </a:prstGeom>
          <a:solidFill>
            <a:srgbClr val="F6F8F7"/>
          </a:solidFill>
          <a:ln/>
        </p:spPr>
      </p:sp>
      <p:sp>
        <p:nvSpPr>
          <p:cNvPr id="6" name="Shape 4"/>
          <p:cNvSpPr/>
          <p:nvPr/>
        </p:nvSpPr>
        <p:spPr>
          <a:xfrm>
            <a:off x="901700" y="1892238"/>
            <a:ext cx="1676400" cy="3835003"/>
          </a:xfrm>
          <a:custGeom>
            <a:avLst/>
            <a:gdLst/>
            <a:ahLst/>
            <a:cxnLst/>
            <a:rect l="l" t="t" r="r" b="b"/>
            <a:pathLst>
              <a:path w="1676400" h="3835003">
                <a:moveTo>
                  <a:pt x="0" y="76200"/>
                </a:moveTo>
                <a:arcTo hR="76200" wR="76200" stAng="10800000" swAng="5400000"/>
                <a:lnTo>
                  <a:pt x="1676400" y="0"/>
                </a:lnTo>
                <a:lnTo>
                  <a:pt x="1676400" y="3835003"/>
                </a:lnTo>
                <a:lnTo>
                  <a:pt x="76200" y="3835003"/>
                </a:lnTo>
                <a:arcTo hR="76200" wR="76200" stAng="5400000" swAng="5400000"/>
                <a:close/>
              </a:path>
            </a:pathLst>
          </a:custGeom>
          <a:solidFill>
            <a:srgbClr val="152420"/>
          </a:solidFill>
          <a:ln/>
        </p:spPr>
      </p:sp>
      <p:sp>
        <p:nvSpPr>
          <p:cNvPr id="7" name="Shape 5"/>
          <p:cNvSpPr/>
          <p:nvPr/>
        </p:nvSpPr>
        <p:spPr>
          <a:xfrm>
            <a:off x="1003300" y="1993838"/>
            <a:ext cx="254000" cy="254000"/>
          </a:xfrm>
          <a:prstGeom prst="roundRect">
            <a:avLst>
              <a:gd name="adj" fmla="val 25000"/>
            </a:avLst>
          </a:prstGeom>
          <a:solidFill>
            <a:srgbClr val="16865A"/>
          </a:solidFill>
          <a:ln/>
        </p:spPr>
      </p:sp>
      <p:pic>
        <p:nvPicPr>
          <p:cNvPr id="8" name="Image 0" descr="Hom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4100" y="2044638"/>
            <a:ext cx="1524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3500" y="2029420"/>
            <a:ext cx="8772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SmartHotel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3300" y="2374838"/>
            <a:ext cx="1473200" cy="289520"/>
          </a:xfrm>
          <a:prstGeom prst="roundRect">
            <a:avLst>
              <a:gd name="adj" fmla="val 21933"/>
            </a:avLst>
          </a:prstGeom>
          <a:solidFill>
            <a:srgbClr val="16865A"/>
          </a:solidFill>
          <a:ln/>
        </p:spPr>
      </p:sp>
      <p:pic>
        <p:nvPicPr>
          <p:cNvPr id="11" name="Image 1" descr="Hom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6800" y="2443361"/>
            <a:ext cx="152400" cy="152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2700" y="2412938"/>
            <a:ext cx="7831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Áttekintés</a:t>
            </a:r>
            <a:endParaRPr lang="en-US" sz="1200" dirty="0"/>
          </a:p>
        </p:txBody>
      </p:sp>
      <p:pic>
        <p:nvPicPr>
          <p:cNvPr id="13" name="Image 2" descr="Light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66800" y="2770981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2700" y="2740558"/>
            <a:ext cx="56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Energia</a:t>
            </a:r>
            <a:endParaRPr lang="en-US" sz="1200" dirty="0"/>
          </a:p>
        </p:txBody>
      </p:sp>
      <p:pic>
        <p:nvPicPr>
          <p:cNvPr id="15" name="Image 3" descr="Activit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66800" y="3098602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2700" y="3068179"/>
            <a:ext cx="4414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Klíma</a:t>
            </a:r>
            <a:endParaRPr lang="en-US" sz="1200" dirty="0"/>
          </a:p>
        </p:txBody>
      </p:sp>
      <p:pic>
        <p:nvPicPr>
          <p:cNvPr id="17" name="Image 4" descr="Key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66800" y="3426222"/>
            <a:ext cx="152400" cy="152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2700" y="3395799"/>
            <a:ext cx="543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Szobák</a:t>
            </a:r>
            <a:endParaRPr lang="en-US" sz="1200" dirty="0"/>
          </a:p>
        </p:txBody>
      </p:sp>
      <p:pic>
        <p:nvPicPr>
          <p:cNvPr id="19" name="Image 5" descr="User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66800" y="3753842"/>
            <a:ext cx="1524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2700" y="3723419"/>
            <a:ext cx="564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Termek</a:t>
            </a:r>
            <a:endParaRPr lang="en-US" sz="1200" dirty="0"/>
          </a:p>
        </p:txBody>
      </p:sp>
      <p:pic>
        <p:nvPicPr>
          <p:cNvPr id="21" name="Image 6" descr="Warni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66800" y="4081463"/>
            <a:ext cx="152400" cy="1524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82700" y="4051040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Riasztások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2235200" y="4068763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24" name="Text 15"/>
          <p:cNvSpPr/>
          <p:nvPr/>
        </p:nvSpPr>
        <p:spPr>
          <a:xfrm>
            <a:off x="2209800" y="4068763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pic>
        <p:nvPicPr>
          <p:cNvPr id="25" name="Image 7" descr="Lin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66800" y="4409083"/>
            <a:ext cx="152400" cy="1524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282700" y="4378660"/>
            <a:ext cx="6802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Eszközök</a:t>
            </a:r>
            <a:endParaRPr lang="en-US" sz="1200" dirty="0"/>
          </a:p>
        </p:txBody>
      </p:sp>
      <p:pic>
        <p:nvPicPr>
          <p:cNvPr id="27" name="Image 8" descr="Settings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66800" y="4736703"/>
            <a:ext cx="152400" cy="1524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282700" y="4706280"/>
            <a:ext cx="8104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Beállítások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1003300" y="5033900"/>
            <a:ext cx="1473200" cy="591741"/>
          </a:xfrm>
          <a:prstGeom prst="roundRect">
            <a:avLst>
              <a:gd name="adj" fmla="val 12877"/>
            </a:avLst>
          </a:prstGeom>
          <a:solidFill>
            <a:srgbClr val="1F332D"/>
          </a:solidFill>
          <a:ln/>
        </p:spPr>
      </p:sp>
      <p:sp>
        <p:nvSpPr>
          <p:cNvPr id="30" name="Shape 19"/>
          <p:cNvSpPr/>
          <p:nvPr/>
        </p:nvSpPr>
        <p:spPr>
          <a:xfrm>
            <a:off x="1092200" y="5184973"/>
            <a:ext cx="63500" cy="63500"/>
          </a:xfrm>
          <a:prstGeom prst="roundRect">
            <a:avLst>
              <a:gd name="adj" fmla="val 50000"/>
            </a:avLst>
          </a:prstGeom>
          <a:solidFill>
            <a:srgbClr val="3FC98F"/>
          </a:solidFill>
          <a:ln/>
        </p:spPr>
      </p:sp>
      <p:sp>
        <p:nvSpPr>
          <p:cNvPr id="31" name="Text 20"/>
          <p:cNvSpPr/>
          <p:nvPr/>
        </p:nvSpPr>
        <p:spPr>
          <a:xfrm>
            <a:off x="1206500" y="5110100"/>
            <a:ext cx="9578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Rendszer OK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1092200" y="5336121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1246 eszköz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2705100" y="2019238"/>
            <a:ext cx="9334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520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Áttekintés</a:t>
            </a:r>
            <a:endParaRPr lang="en-US" sz="1400" dirty="0"/>
          </a:p>
        </p:txBody>
      </p:sp>
      <p:sp>
        <p:nvSpPr>
          <p:cNvPr id="34" name="Text 23"/>
          <p:cNvSpPr/>
          <p:nvPr/>
        </p:nvSpPr>
        <p:spPr>
          <a:xfrm>
            <a:off x="5683448" y="2035708"/>
            <a:ext cx="1102056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okt. 14. · 14:32</a:t>
            </a:r>
            <a:endParaRPr lang="en-US" sz="1200" dirty="0"/>
          </a:p>
        </p:txBody>
      </p:sp>
      <p:sp>
        <p:nvSpPr>
          <p:cNvPr id="35" name="Shape 24"/>
          <p:cNvSpPr/>
          <p:nvPr/>
        </p:nvSpPr>
        <p:spPr>
          <a:xfrm>
            <a:off x="6798204" y="20204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/>
        </p:spPr>
      </p:sp>
      <p:sp>
        <p:nvSpPr>
          <p:cNvPr id="36" name="Text 25"/>
          <p:cNvSpPr/>
          <p:nvPr/>
        </p:nvSpPr>
        <p:spPr>
          <a:xfrm>
            <a:off x="6772804" y="2020491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8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7090304" y="2035708"/>
            <a:ext cx="1050396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520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Műszakvezető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2708275" y="2342424"/>
            <a:ext cx="1737783" cy="827551"/>
          </a:xfrm>
          <a:prstGeom prst="roundRect">
            <a:avLst>
              <a:gd name="adj" fmla="val 10359"/>
            </a:avLst>
          </a:prstGeom>
          <a:solidFill>
            <a:srgbClr val="FFFFFF"/>
          </a:solidFill>
          <a:ln w="6350">
            <a:solidFill>
              <a:srgbClr val="E3E8E5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2798233" y="260376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/>
        </p:spPr>
      </p:sp>
      <p:pic>
        <p:nvPicPr>
          <p:cNvPr id="40" name="Image 9" descr="Activity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868083" y="2673617"/>
            <a:ext cx="165100" cy="16510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3179233" y="2432385"/>
            <a:ext cx="1227667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1520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22,1 °C</a:t>
            </a:r>
            <a:endParaRPr lang="en-US" sz="1800" dirty="0"/>
          </a:p>
        </p:txBody>
      </p:sp>
      <p:sp>
        <p:nvSpPr>
          <p:cNvPr id="42" name="Text 30"/>
          <p:cNvSpPr/>
          <p:nvPr/>
        </p:nvSpPr>
        <p:spPr>
          <a:xfrm>
            <a:off x="3179233" y="2683805"/>
            <a:ext cx="122766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Beltéri hőm.</a:t>
            </a:r>
            <a:endParaRPr lang="en-US" sz="1200" dirty="0"/>
          </a:p>
        </p:txBody>
      </p:sp>
      <p:sp>
        <p:nvSpPr>
          <p:cNvPr id="43" name="Text 31"/>
          <p:cNvSpPr/>
          <p:nvPr/>
        </p:nvSpPr>
        <p:spPr>
          <a:xfrm>
            <a:off x="3179233" y="2881908"/>
            <a:ext cx="122766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68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célsávban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4528608" y="2342424"/>
            <a:ext cx="1737783" cy="827551"/>
          </a:xfrm>
          <a:prstGeom prst="roundRect">
            <a:avLst>
              <a:gd name="adj" fmla="val 10359"/>
            </a:avLst>
          </a:prstGeom>
          <a:solidFill>
            <a:srgbClr val="FFFFFF"/>
          </a:solidFill>
          <a:ln w="6350">
            <a:solidFill>
              <a:srgbClr val="E3E8E5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4618567" y="260376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CF0DA"/>
          </a:solidFill>
          <a:ln/>
        </p:spPr>
      </p:sp>
      <p:pic>
        <p:nvPicPr>
          <p:cNvPr id="46" name="Image 10" descr="Lightni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688417" y="2673617"/>
            <a:ext cx="165100" cy="16510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4999567" y="2432385"/>
            <a:ext cx="1227667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1520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3,4 MWh</a:t>
            </a:r>
            <a:endParaRPr lang="en-US" sz="1800" dirty="0"/>
          </a:p>
        </p:txBody>
      </p:sp>
      <p:sp>
        <p:nvSpPr>
          <p:cNvPr id="48" name="Text 35"/>
          <p:cNvSpPr/>
          <p:nvPr/>
        </p:nvSpPr>
        <p:spPr>
          <a:xfrm>
            <a:off x="4999567" y="2683805"/>
            <a:ext cx="122766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Energia ma</a:t>
            </a:r>
            <a:endParaRPr lang="en-US" sz="1200" dirty="0"/>
          </a:p>
        </p:txBody>
      </p:sp>
      <p:sp>
        <p:nvSpPr>
          <p:cNvPr id="49" name="Text 36"/>
          <p:cNvSpPr/>
          <p:nvPr/>
        </p:nvSpPr>
        <p:spPr>
          <a:xfrm>
            <a:off x="4999567" y="2881908"/>
            <a:ext cx="122766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68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 12%</a:t>
            </a:r>
            <a:endParaRPr lang="en-US" sz="1200" dirty="0"/>
          </a:p>
        </p:txBody>
      </p:sp>
      <p:sp>
        <p:nvSpPr>
          <p:cNvPr id="50" name="Shape 37"/>
          <p:cNvSpPr/>
          <p:nvPr/>
        </p:nvSpPr>
        <p:spPr>
          <a:xfrm>
            <a:off x="6348942" y="2342424"/>
            <a:ext cx="1737783" cy="827551"/>
          </a:xfrm>
          <a:prstGeom prst="roundRect">
            <a:avLst>
              <a:gd name="adj" fmla="val 10359"/>
            </a:avLst>
          </a:prstGeom>
          <a:solidFill>
            <a:srgbClr val="FFFFFF"/>
          </a:solidFill>
          <a:ln w="6350">
            <a:solidFill>
              <a:srgbClr val="E3E8E5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6438900" y="260376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2ECF8"/>
          </a:solidFill>
          <a:ln/>
        </p:spPr>
      </p:sp>
      <p:pic>
        <p:nvPicPr>
          <p:cNvPr id="52" name="Image 11" descr="Key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508750" y="2673617"/>
            <a:ext cx="165100" cy="16510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6819900" y="2432385"/>
            <a:ext cx="1227667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1520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142/200</a:t>
            </a:r>
            <a:endParaRPr lang="en-US" sz="1800" dirty="0"/>
          </a:p>
        </p:txBody>
      </p:sp>
      <p:sp>
        <p:nvSpPr>
          <p:cNvPr id="54" name="Text 40"/>
          <p:cNvSpPr/>
          <p:nvPr/>
        </p:nvSpPr>
        <p:spPr>
          <a:xfrm>
            <a:off x="6819900" y="2683805"/>
            <a:ext cx="122766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Foglaltság</a:t>
            </a:r>
            <a:endParaRPr lang="en-US" sz="1200" dirty="0"/>
          </a:p>
        </p:txBody>
      </p:sp>
      <p:sp>
        <p:nvSpPr>
          <p:cNvPr id="55" name="Text 41"/>
          <p:cNvSpPr/>
          <p:nvPr/>
        </p:nvSpPr>
        <p:spPr>
          <a:xfrm>
            <a:off x="6819900" y="2881908"/>
            <a:ext cx="122766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F6F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58 ECO-ban</a:t>
            </a:r>
            <a:endParaRPr lang="en-US" sz="1200" dirty="0"/>
          </a:p>
        </p:txBody>
      </p:sp>
      <p:sp>
        <p:nvSpPr>
          <p:cNvPr id="56" name="Shape 42"/>
          <p:cNvSpPr/>
          <p:nvPr/>
        </p:nvSpPr>
        <p:spPr>
          <a:xfrm>
            <a:off x="2708275" y="3265227"/>
            <a:ext cx="2863850" cy="1637705"/>
          </a:xfrm>
          <a:prstGeom prst="roundRect">
            <a:avLst>
              <a:gd name="adj" fmla="val 5234"/>
            </a:avLst>
          </a:prstGeom>
          <a:solidFill>
            <a:srgbClr val="FFFFFF"/>
          </a:solidFill>
          <a:ln w="6350">
            <a:solidFill>
              <a:srgbClr val="E3E8E5"/>
            </a:solidFill>
            <a:prstDash val="solid"/>
          </a:ln>
        </p:spPr>
      </p:sp>
      <p:sp>
        <p:nvSpPr>
          <p:cNvPr id="57" name="Text 43"/>
          <p:cNvSpPr/>
          <p:nvPr/>
        </p:nvSpPr>
        <p:spPr>
          <a:xfrm>
            <a:off x="2810933" y="3367881"/>
            <a:ext cx="273828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520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Épületszintek</a:t>
            </a:r>
            <a:endParaRPr lang="en-US" sz="1200" dirty="0"/>
          </a:p>
        </p:txBody>
      </p:sp>
      <p:sp>
        <p:nvSpPr>
          <p:cNvPr id="58" name="Text 44"/>
          <p:cNvSpPr/>
          <p:nvPr/>
        </p:nvSpPr>
        <p:spPr>
          <a:xfrm>
            <a:off x="2810933" y="3629490"/>
            <a:ext cx="50800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 em.</a:t>
            </a:r>
            <a:endParaRPr lang="en-US" sz="1200" dirty="0"/>
          </a:p>
        </p:txBody>
      </p:sp>
      <p:sp>
        <p:nvSpPr>
          <p:cNvPr id="59" name="Shape 45"/>
          <p:cNvSpPr/>
          <p:nvPr/>
        </p:nvSpPr>
        <p:spPr>
          <a:xfrm>
            <a:off x="3306233" y="3632002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60" name="Shape 46"/>
          <p:cNvSpPr/>
          <p:nvPr/>
        </p:nvSpPr>
        <p:spPr>
          <a:xfrm>
            <a:off x="3522133" y="3632002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61" name="Shape 47"/>
          <p:cNvSpPr/>
          <p:nvPr/>
        </p:nvSpPr>
        <p:spPr>
          <a:xfrm>
            <a:off x="3738033" y="3632002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E1E5E3"/>
          </a:solidFill>
          <a:ln/>
        </p:spPr>
      </p:sp>
      <p:sp>
        <p:nvSpPr>
          <p:cNvPr id="62" name="Shape 48"/>
          <p:cNvSpPr/>
          <p:nvPr/>
        </p:nvSpPr>
        <p:spPr>
          <a:xfrm>
            <a:off x="3953933" y="3632002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63" name="Shape 49"/>
          <p:cNvSpPr/>
          <p:nvPr/>
        </p:nvSpPr>
        <p:spPr>
          <a:xfrm>
            <a:off x="4169833" y="3632002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64" name="Shape 50"/>
          <p:cNvSpPr/>
          <p:nvPr/>
        </p:nvSpPr>
        <p:spPr>
          <a:xfrm>
            <a:off x="4385733" y="3632002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E1E5E3"/>
          </a:solidFill>
          <a:ln/>
        </p:spPr>
      </p:sp>
      <p:sp>
        <p:nvSpPr>
          <p:cNvPr id="65" name="Shape 51"/>
          <p:cNvSpPr/>
          <p:nvPr/>
        </p:nvSpPr>
        <p:spPr>
          <a:xfrm>
            <a:off x="4601633" y="3632002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66" name="Shape 52"/>
          <p:cNvSpPr/>
          <p:nvPr/>
        </p:nvSpPr>
        <p:spPr>
          <a:xfrm>
            <a:off x="4817533" y="3632002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67" name="Shape 53"/>
          <p:cNvSpPr/>
          <p:nvPr/>
        </p:nvSpPr>
        <p:spPr>
          <a:xfrm>
            <a:off x="5033433" y="3632002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68" name="Text 54"/>
          <p:cNvSpPr/>
          <p:nvPr/>
        </p:nvSpPr>
        <p:spPr>
          <a:xfrm>
            <a:off x="2810933" y="3850419"/>
            <a:ext cx="50800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 em.</a:t>
            </a:r>
            <a:endParaRPr lang="en-US" sz="1200" dirty="0"/>
          </a:p>
        </p:txBody>
      </p:sp>
      <p:sp>
        <p:nvSpPr>
          <p:cNvPr id="69" name="Shape 55"/>
          <p:cNvSpPr/>
          <p:nvPr/>
        </p:nvSpPr>
        <p:spPr>
          <a:xfrm>
            <a:off x="3306233" y="385293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70" name="Shape 56"/>
          <p:cNvSpPr/>
          <p:nvPr/>
        </p:nvSpPr>
        <p:spPr>
          <a:xfrm>
            <a:off x="3522133" y="385293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E1E5E3"/>
          </a:solidFill>
          <a:ln/>
        </p:spPr>
      </p:sp>
      <p:sp>
        <p:nvSpPr>
          <p:cNvPr id="71" name="Shape 57"/>
          <p:cNvSpPr/>
          <p:nvPr/>
        </p:nvSpPr>
        <p:spPr>
          <a:xfrm>
            <a:off x="3738033" y="385293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E1E5E3"/>
          </a:solidFill>
          <a:ln/>
        </p:spPr>
      </p:sp>
      <p:sp>
        <p:nvSpPr>
          <p:cNvPr id="72" name="Shape 58"/>
          <p:cNvSpPr/>
          <p:nvPr/>
        </p:nvSpPr>
        <p:spPr>
          <a:xfrm>
            <a:off x="3953933" y="385293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73" name="Shape 59"/>
          <p:cNvSpPr/>
          <p:nvPr/>
        </p:nvSpPr>
        <p:spPr>
          <a:xfrm>
            <a:off x="4169833" y="385293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74" name="Shape 60"/>
          <p:cNvSpPr/>
          <p:nvPr/>
        </p:nvSpPr>
        <p:spPr>
          <a:xfrm>
            <a:off x="4385733" y="385293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75" name="Shape 61"/>
          <p:cNvSpPr/>
          <p:nvPr/>
        </p:nvSpPr>
        <p:spPr>
          <a:xfrm>
            <a:off x="4601633" y="385293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E1E5E3"/>
          </a:solidFill>
          <a:ln/>
        </p:spPr>
      </p:sp>
      <p:sp>
        <p:nvSpPr>
          <p:cNvPr id="76" name="Shape 62"/>
          <p:cNvSpPr/>
          <p:nvPr/>
        </p:nvSpPr>
        <p:spPr>
          <a:xfrm>
            <a:off x="4817533" y="385293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77" name="Shape 63"/>
          <p:cNvSpPr/>
          <p:nvPr/>
        </p:nvSpPr>
        <p:spPr>
          <a:xfrm>
            <a:off x="5033433" y="385293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78" name="Text 64"/>
          <p:cNvSpPr/>
          <p:nvPr/>
        </p:nvSpPr>
        <p:spPr>
          <a:xfrm>
            <a:off x="2810933" y="4071342"/>
            <a:ext cx="50800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em.</a:t>
            </a:r>
            <a:endParaRPr lang="en-US" sz="1200" dirty="0"/>
          </a:p>
        </p:txBody>
      </p:sp>
      <p:sp>
        <p:nvSpPr>
          <p:cNvPr id="79" name="Shape 65"/>
          <p:cNvSpPr/>
          <p:nvPr/>
        </p:nvSpPr>
        <p:spPr>
          <a:xfrm>
            <a:off x="3306233" y="407386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E1E5E3"/>
          </a:solidFill>
          <a:ln/>
        </p:spPr>
      </p:sp>
      <p:sp>
        <p:nvSpPr>
          <p:cNvPr id="80" name="Shape 66"/>
          <p:cNvSpPr/>
          <p:nvPr/>
        </p:nvSpPr>
        <p:spPr>
          <a:xfrm>
            <a:off x="3522133" y="407386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81" name="Shape 67"/>
          <p:cNvSpPr/>
          <p:nvPr/>
        </p:nvSpPr>
        <p:spPr>
          <a:xfrm>
            <a:off x="3738033" y="407386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82" name="Shape 68"/>
          <p:cNvSpPr/>
          <p:nvPr/>
        </p:nvSpPr>
        <p:spPr>
          <a:xfrm>
            <a:off x="3953933" y="407386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83" name="Shape 69"/>
          <p:cNvSpPr/>
          <p:nvPr/>
        </p:nvSpPr>
        <p:spPr>
          <a:xfrm>
            <a:off x="4169833" y="407386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E1E5E3"/>
          </a:solidFill>
          <a:ln/>
        </p:spPr>
      </p:sp>
      <p:sp>
        <p:nvSpPr>
          <p:cNvPr id="84" name="Shape 70"/>
          <p:cNvSpPr/>
          <p:nvPr/>
        </p:nvSpPr>
        <p:spPr>
          <a:xfrm>
            <a:off x="4385733" y="407386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85" name="Shape 71"/>
          <p:cNvSpPr/>
          <p:nvPr/>
        </p:nvSpPr>
        <p:spPr>
          <a:xfrm>
            <a:off x="4601633" y="407386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86" name="Shape 72"/>
          <p:cNvSpPr/>
          <p:nvPr/>
        </p:nvSpPr>
        <p:spPr>
          <a:xfrm>
            <a:off x="4817533" y="407386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E1E5E3"/>
          </a:solidFill>
          <a:ln/>
        </p:spPr>
      </p:sp>
      <p:sp>
        <p:nvSpPr>
          <p:cNvPr id="87" name="Shape 73"/>
          <p:cNvSpPr/>
          <p:nvPr/>
        </p:nvSpPr>
        <p:spPr>
          <a:xfrm>
            <a:off x="5033433" y="407386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88" name="Text 74"/>
          <p:cNvSpPr/>
          <p:nvPr/>
        </p:nvSpPr>
        <p:spPr>
          <a:xfrm>
            <a:off x="2810933" y="4292271"/>
            <a:ext cx="50800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em.</a:t>
            </a:r>
            <a:endParaRPr lang="en-US" sz="1200" dirty="0"/>
          </a:p>
        </p:txBody>
      </p:sp>
      <p:sp>
        <p:nvSpPr>
          <p:cNvPr id="89" name="Shape 75"/>
          <p:cNvSpPr/>
          <p:nvPr/>
        </p:nvSpPr>
        <p:spPr>
          <a:xfrm>
            <a:off x="3306233" y="4294783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90" name="Shape 76"/>
          <p:cNvSpPr/>
          <p:nvPr/>
        </p:nvSpPr>
        <p:spPr>
          <a:xfrm>
            <a:off x="3522133" y="4294783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E4484D"/>
          </a:solidFill>
          <a:ln/>
        </p:spPr>
      </p:sp>
      <p:sp>
        <p:nvSpPr>
          <p:cNvPr id="91" name="Shape 77"/>
          <p:cNvSpPr/>
          <p:nvPr/>
        </p:nvSpPr>
        <p:spPr>
          <a:xfrm>
            <a:off x="3738033" y="4294783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92" name="Shape 78"/>
          <p:cNvSpPr/>
          <p:nvPr/>
        </p:nvSpPr>
        <p:spPr>
          <a:xfrm>
            <a:off x="3953933" y="4294783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E1E5E3"/>
          </a:solidFill>
          <a:ln/>
        </p:spPr>
      </p:sp>
      <p:sp>
        <p:nvSpPr>
          <p:cNvPr id="93" name="Shape 79"/>
          <p:cNvSpPr/>
          <p:nvPr/>
        </p:nvSpPr>
        <p:spPr>
          <a:xfrm>
            <a:off x="4169833" y="4294783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94" name="Shape 80"/>
          <p:cNvSpPr/>
          <p:nvPr/>
        </p:nvSpPr>
        <p:spPr>
          <a:xfrm>
            <a:off x="4385733" y="4294783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95" name="Shape 81"/>
          <p:cNvSpPr/>
          <p:nvPr/>
        </p:nvSpPr>
        <p:spPr>
          <a:xfrm>
            <a:off x="4601633" y="4294783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96" name="Shape 82"/>
          <p:cNvSpPr/>
          <p:nvPr/>
        </p:nvSpPr>
        <p:spPr>
          <a:xfrm>
            <a:off x="4817533" y="4294783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E1E5E3"/>
          </a:solidFill>
          <a:ln/>
        </p:spPr>
      </p:sp>
      <p:sp>
        <p:nvSpPr>
          <p:cNvPr id="97" name="Shape 83"/>
          <p:cNvSpPr/>
          <p:nvPr/>
        </p:nvSpPr>
        <p:spPr>
          <a:xfrm>
            <a:off x="5033433" y="4294783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9FD6B8"/>
          </a:solidFill>
          <a:ln/>
        </p:spPr>
      </p:sp>
      <p:sp>
        <p:nvSpPr>
          <p:cNvPr id="98" name="Shape 84"/>
          <p:cNvSpPr/>
          <p:nvPr/>
        </p:nvSpPr>
        <p:spPr>
          <a:xfrm>
            <a:off x="2810933" y="4586821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9FD6B8"/>
          </a:solidFill>
          <a:ln/>
        </p:spPr>
      </p:sp>
      <p:sp>
        <p:nvSpPr>
          <p:cNvPr id="99" name="Text 85"/>
          <p:cNvSpPr/>
          <p:nvPr/>
        </p:nvSpPr>
        <p:spPr>
          <a:xfrm>
            <a:off x="2950633" y="4538600"/>
            <a:ext cx="606160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Komfort</a:t>
            </a:r>
            <a:endParaRPr lang="en-US" sz="1200" dirty="0"/>
          </a:p>
        </p:txBody>
      </p:sp>
      <p:sp>
        <p:nvSpPr>
          <p:cNvPr id="100" name="Shape 86"/>
          <p:cNvSpPr/>
          <p:nvPr/>
        </p:nvSpPr>
        <p:spPr>
          <a:xfrm>
            <a:off x="3594894" y="4586821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E1E5E3"/>
          </a:solidFill>
          <a:ln/>
        </p:spPr>
      </p:sp>
      <p:sp>
        <p:nvSpPr>
          <p:cNvPr id="101" name="Text 87"/>
          <p:cNvSpPr/>
          <p:nvPr/>
        </p:nvSpPr>
        <p:spPr>
          <a:xfrm>
            <a:off x="3734594" y="4538600"/>
            <a:ext cx="340254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</a:t>
            </a:r>
            <a:endParaRPr lang="en-US" sz="1200" dirty="0"/>
          </a:p>
        </p:txBody>
      </p:sp>
      <p:sp>
        <p:nvSpPr>
          <p:cNvPr id="102" name="Shape 88"/>
          <p:cNvSpPr/>
          <p:nvPr/>
        </p:nvSpPr>
        <p:spPr>
          <a:xfrm>
            <a:off x="4112948" y="4586821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E4484D"/>
          </a:solidFill>
          <a:ln/>
        </p:spPr>
      </p:sp>
      <p:sp>
        <p:nvSpPr>
          <p:cNvPr id="103" name="Text 89"/>
          <p:cNvSpPr/>
          <p:nvPr/>
        </p:nvSpPr>
        <p:spPr>
          <a:xfrm>
            <a:off x="4252648" y="4538600"/>
            <a:ext cx="620382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Riasztás</a:t>
            </a:r>
            <a:endParaRPr lang="en-US" sz="1200" dirty="0"/>
          </a:p>
        </p:txBody>
      </p:sp>
      <p:sp>
        <p:nvSpPr>
          <p:cNvPr id="104" name="Shape 90"/>
          <p:cNvSpPr/>
          <p:nvPr/>
        </p:nvSpPr>
        <p:spPr>
          <a:xfrm>
            <a:off x="5680075" y="3265227"/>
            <a:ext cx="2406650" cy="1637705"/>
          </a:xfrm>
          <a:prstGeom prst="roundRect">
            <a:avLst>
              <a:gd name="adj" fmla="val 5234"/>
            </a:avLst>
          </a:prstGeom>
          <a:solidFill>
            <a:srgbClr val="FFFFFF"/>
          </a:solidFill>
          <a:ln w="6350">
            <a:solidFill>
              <a:srgbClr val="E3E8E5"/>
            </a:solidFill>
            <a:prstDash val="solid"/>
          </a:ln>
        </p:spPr>
      </p:sp>
      <p:sp>
        <p:nvSpPr>
          <p:cNvPr id="105" name="Text 91"/>
          <p:cNvSpPr/>
          <p:nvPr/>
        </p:nvSpPr>
        <p:spPr>
          <a:xfrm>
            <a:off x="5782733" y="3367881"/>
            <a:ext cx="833834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520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Riasztások</a:t>
            </a:r>
            <a:endParaRPr lang="en-US" sz="1200" dirty="0"/>
          </a:p>
        </p:txBody>
      </p:sp>
      <p:sp>
        <p:nvSpPr>
          <p:cNvPr id="106" name="Shape 92"/>
          <p:cNvSpPr/>
          <p:nvPr/>
        </p:nvSpPr>
        <p:spPr>
          <a:xfrm>
            <a:off x="6616568" y="3378002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107" name="Text 93"/>
          <p:cNvSpPr/>
          <p:nvPr/>
        </p:nvSpPr>
        <p:spPr>
          <a:xfrm>
            <a:off x="6591168" y="3378002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108" name="Text 94"/>
          <p:cNvSpPr/>
          <p:nvPr/>
        </p:nvSpPr>
        <p:spPr>
          <a:xfrm>
            <a:off x="7301773" y="3367881"/>
            <a:ext cx="733094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68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Összes →</a:t>
            </a:r>
            <a:endParaRPr lang="en-US" sz="1200" dirty="0"/>
          </a:p>
        </p:txBody>
      </p:sp>
      <p:sp>
        <p:nvSpPr>
          <p:cNvPr id="109" name="Shape 95"/>
          <p:cNvSpPr/>
          <p:nvPr/>
        </p:nvSpPr>
        <p:spPr>
          <a:xfrm>
            <a:off x="5782733" y="3629490"/>
            <a:ext cx="2201333" cy="553641"/>
          </a:xfrm>
          <a:prstGeom prst="roundRect">
            <a:avLst>
              <a:gd name="adj" fmla="val 11470"/>
            </a:avLst>
          </a:prstGeom>
          <a:solidFill>
            <a:srgbClr val="FDECEC"/>
          </a:solidFill>
          <a:ln/>
        </p:spPr>
      </p:sp>
      <p:sp>
        <p:nvSpPr>
          <p:cNvPr id="110" name="Shape 96"/>
          <p:cNvSpPr/>
          <p:nvPr/>
        </p:nvSpPr>
        <p:spPr>
          <a:xfrm>
            <a:off x="5858933" y="379201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11" name="Image 12" descr="Warni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909733" y="3842810"/>
            <a:ext cx="127000" cy="127000"/>
          </a:xfrm>
          <a:prstGeom prst="rect">
            <a:avLst/>
          </a:prstGeom>
        </p:spPr>
      </p:pic>
      <p:sp>
        <p:nvSpPr>
          <p:cNvPr id="112" name="Text 97"/>
          <p:cNvSpPr/>
          <p:nvPr/>
        </p:nvSpPr>
        <p:spPr>
          <a:xfrm>
            <a:off x="6151033" y="3692990"/>
            <a:ext cx="13280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0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Vízszivárgás</a:t>
            </a:r>
            <a:endParaRPr lang="en-US" sz="1200" dirty="0"/>
          </a:p>
        </p:txBody>
      </p:sp>
      <p:sp>
        <p:nvSpPr>
          <p:cNvPr id="113" name="Text 98"/>
          <p:cNvSpPr/>
          <p:nvPr/>
        </p:nvSpPr>
        <p:spPr>
          <a:xfrm>
            <a:off x="6151033" y="3906310"/>
            <a:ext cx="13280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312-es szoba</a:t>
            </a:r>
            <a:endParaRPr lang="en-US" sz="1200" dirty="0"/>
          </a:p>
        </p:txBody>
      </p:sp>
      <p:sp>
        <p:nvSpPr>
          <p:cNvPr id="114" name="Text 99"/>
          <p:cNvSpPr/>
          <p:nvPr/>
        </p:nvSpPr>
        <p:spPr>
          <a:xfrm>
            <a:off x="7491809" y="3799619"/>
            <a:ext cx="4668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C37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14:28</a:t>
            </a:r>
            <a:endParaRPr lang="en-US" sz="1200" dirty="0"/>
          </a:p>
        </p:txBody>
      </p:sp>
      <p:sp>
        <p:nvSpPr>
          <p:cNvPr id="115" name="Shape 100"/>
          <p:cNvSpPr/>
          <p:nvPr/>
        </p:nvSpPr>
        <p:spPr>
          <a:xfrm>
            <a:off x="5782733" y="4246631"/>
            <a:ext cx="2201333" cy="553641"/>
          </a:xfrm>
          <a:prstGeom prst="roundRect">
            <a:avLst>
              <a:gd name="adj" fmla="val 11470"/>
            </a:avLst>
          </a:prstGeom>
          <a:solidFill>
            <a:srgbClr val="FDF3E3"/>
          </a:solidFill>
          <a:ln/>
        </p:spPr>
      </p:sp>
      <p:sp>
        <p:nvSpPr>
          <p:cNvPr id="116" name="Shape 101"/>
          <p:cNvSpPr/>
          <p:nvPr/>
        </p:nvSpPr>
        <p:spPr>
          <a:xfrm>
            <a:off x="5858933" y="440915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17" name="Image 13" descr="Wrench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5909733" y="4459951"/>
            <a:ext cx="127000" cy="127000"/>
          </a:xfrm>
          <a:prstGeom prst="rect">
            <a:avLst/>
          </a:prstGeom>
        </p:spPr>
      </p:pic>
      <p:sp>
        <p:nvSpPr>
          <p:cNvPr id="118" name="Text 102"/>
          <p:cNvSpPr/>
          <p:nvPr/>
        </p:nvSpPr>
        <p:spPr>
          <a:xfrm>
            <a:off x="6151033" y="4310131"/>
            <a:ext cx="13280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0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Légkezelő 2</a:t>
            </a:r>
            <a:endParaRPr lang="en-US" sz="1200" dirty="0"/>
          </a:p>
        </p:txBody>
      </p:sp>
      <p:sp>
        <p:nvSpPr>
          <p:cNvPr id="119" name="Text 103"/>
          <p:cNvSpPr/>
          <p:nvPr/>
        </p:nvSpPr>
        <p:spPr>
          <a:xfrm>
            <a:off x="6151033" y="4523451"/>
            <a:ext cx="13280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rezgés nő</a:t>
            </a:r>
            <a:endParaRPr lang="en-US" sz="1200" dirty="0"/>
          </a:p>
        </p:txBody>
      </p:sp>
      <p:sp>
        <p:nvSpPr>
          <p:cNvPr id="120" name="Text 104"/>
          <p:cNvSpPr/>
          <p:nvPr/>
        </p:nvSpPr>
        <p:spPr>
          <a:xfrm>
            <a:off x="7491809" y="4416760"/>
            <a:ext cx="4668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6F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06:40</a:t>
            </a:r>
            <a:endParaRPr lang="en-US" sz="1200" dirty="0"/>
          </a:p>
        </p:txBody>
      </p:sp>
      <p:sp>
        <p:nvSpPr>
          <p:cNvPr id="121" name="Shape 105"/>
          <p:cNvSpPr/>
          <p:nvPr/>
        </p:nvSpPr>
        <p:spPr>
          <a:xfrm>
            <a:off x="2708275" y="4998182"/>
            <a:ext cx="5378450" cy="452504"/>
          </a:xfrm>
          <a:prstGeom prst="roundRect">
            <a:avLst>
              <a:gd name="adj" fmla="val 18945"/>
            </a:avLst>
          </a:prstGeom>
          <a:solidFill>
            <a:srgbClr val="FFFFFF"/>
          </a:solidFill>
          <a:ln w="6350">
            <a:solidFill>
              <a:srgbClr val="E3E8E5"/>
            </a:solidFill>
            <a:prstDash val="solid"/>
          </a:ln>
        </p:spPr>
      </p:sp>
      <p:sp>
        <p:nvSpPr>
          <p:cNvPr id="122" name="Text 106"/>
          <p:cNvSpPr/>
          <p:nvPr/>
        </p:nvSpPr>
        <p:spPr>
          <a:xfrm>
            <a:off x="2798233" y="5117771"/>
            <a:ext cx="168691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0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Automatikus üzemmód</a:t>
            </a:r>
            <a:endParaRPr lang="en-US" sz="1200" dirty="0"/>
          </a:p>
        </p:txBody>
      </p:sp>
      <p:sp>
        <p:nvSpPr>
          <p:cNvPr id="123" name="Shape 107"/>
          <p:cNvSpPr/>
          <p:nvPr/>
        </p:nvSpPr>
        <p:spPr>
          <a:xfrm>
            <a:off x="4510551" y="5135500"/>
            <a:ext cx="330200" cy="177800"/>
          </a:xfrm>
          <a:prstGeom prst="roundRect">
            <a:avLst>
              <a:gd name="adj" fmla="val 50000"/>
            </a:avLst>
          </a:prstGeom>
          <a:solidFill>
            <a:srgbClr val="16865A"/>
          </a:solidFill>
          <a:ln/>
        </p:spPr>
      </p:sp>
      <p:sp>
        <p:nvSpPr>
          <p:cNvPr id="124" name="Shape 108"/>
          <p:cNvSpPr/>
          <p:nvPr/>
        </p:nvSpPr>
        <p:spPr>
          <a:xfrm>
            <a:off x="4682001" y="5154550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5" name="Shape 109"/>
          <p:cNvSpPr/>
          <p:nvPr/>
        </p:nvSpPr>
        <p:spPr>
          <a:xfrm>
            <a:off x="5565114" y="5066971"/>
            <a:ext cx="1451835" cy="314920"/>
          </a:xfrm>
          <a:prstGeom prst="roundRect">
            <a:avLst>
              <a:gd name="adj" fmla="val 20164"/>
            </a:avLst>
          </a:prstGeom>
          <a:solidFill>
            <a:srgbClr val="16865A"/>
          </a:solidFill>
          <a:ln/>
        </p:spPr>
      </p:sp>
      <p:sp>
        <p:nvSpPr>
          <p:cNvPr id="126" name="Text 110"/>
          <p:cNvSpPr/>
          <p:nvPr/>
        </p:nvSpPr>
        <p:spPr>
          <a:xfrm>
            <a:off x="5666714" y="5117771"/>
            <a:ext cx="129943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 mód indítása</a:t>
            </a:r>
            <a:endParaRPr lang="en-US" sz="1200" dirty="0"/>
          </a:p>
        </p:txBody>
      </p:sp>
      <p:sp>
        <p:nvSpPr>
          <p:cNvPr id="127" name="Shape 111"/>
          <p:cNvSpPr/>
          <p:nvPr/>
        </p:nvSpPr>
        <p:spPr>
          <a:xfrm>
            <a:off x="7096323" y="5065911"/>
            <a:ext cx="897268" cy="317037"/>
          </a:xfrm>
          <a:prstGeom prst="roundRect">
            <a:avLst>
              <a:gd name="adj" fmla="val 19028"/>
            </a:avLst>
          </a:prstGeom>
          <a:solidFill>
            <a:srgbClr val="EFF7F3"/>
          </a:solidFill>
          <a:ln w="6350">
            <a:solidFill>
              <a:srgbClr val="D5E8DD"/>
            </a:solidFill>
            <a:prstDash val="solid"/>
          </a:ln>
        </p:spPr>
      </p:sp>
      <p:sp>
        <p:nvSpPr>
          <p:cNvPr id="128" name="Text 112"/>
          <p:cNvSpPr/>
          <p:nvPr/>
        </p:nvSpPr>
        <p:spPr>
          <a:xfrm>
            <a:off x="7198982" y="5117769"/>
            <a:ext cx="74275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8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Részletek</a:t>
            </a:r>
            <a:endParaRPr lang="en-US" sz="1200" dirty="0"/>
          </a:p>
        </p:txBody>
      </p:sp>
      <p:sp>
        <p:nvSpPr>
          <p:cNvPr id="129" name="Shape 113"/>
          <p:cNvSpPr/>
          <p:nvPr/>
        </p:nvSpPr>
        <p:spPr>
          <a:xfrm>
            <a:off x="8559800" y="1809688"/>
            <a:ext cx="2819400" cy="0"/>
          </a:xfrm>
          <a:prstGeom prst="line">
            <a:avLst/>
          </a:prstGeom>
          <a:noFill/>
          <a:ln w="12700">
            <a:solidFill>
              <a:srgbClr val="E2DED5"/>
            </a:solidFill>
            <a:prstDash val="solid"/>
          </a:ln>
        </p:spPr>
      </p:sp>
      <p:sp>
        <p:nvSpPr>
          <p:cNvPr id="130" name="Text 114"/>
          <p:cNvSpPr/>
          <p:nvPr/>
        </p:nvSpPr>
        <p:spPr>
          <a:xfrm>
            <a:off x="8559800" y="1879538"/>
            <a:ext cx="290398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Igazgató, tulajdonos</a:t>
            </a:r>
            <a:endParaRPr lang="en-US" sz="1200" dirty="0"/>
          </a:p>
        </p:txBody>
      </p:sp>
      <p:sp>
        <p:nvSpPr>
          <p:cNvPr id="131" name="Text 115"/>
          <p:cNvSpPr/>
          <p:nvPr/>
        </p:nvSpPr>
        <p:spPr>
          <a:xfrm>
            <a:off x="8559800" y="2097949"/>
            <a:ext cx="290398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költség, trendek, riportok – csak olvasás</a:t>
            </a:r>
            <a:endParaRPr lang="en-US" sz="1200" dirty="0"/>
          </a:p>
        </p:txBody>
      </p:sp>
      <p:sp>
        <p:nvSpPr>
          <p:cNvPr id="132" name="Shape 116"/>
          <p:cNvSpPr/>
          <p:nvPr/>
        </p:nvSpPr>
        <p:spPr>
          <a:xfrm>
            <a:off x="8559800" y="2398911"/>
            <a:ext cx="2819400" cy="0"/>
          </a:xfrm>
          <a:prstGeom prst="line">
            <a:avLst/>
          </a:prstGeom>
          <a:noFill/>
          <a:ln w="12700">
            <a:solidFill>
              <a:srgbClr val="17706B"/>
            </a:solidFill>
            <a:prstDash val="solid"/>
          </a:ln>
        </p:spPr>
      </p:sp>
      <p:sp>
        <p:nvSpPr>
          <p:cNvPr id="133" name="Text 117"/>
          <p:cNvSpPr/>
          <p:nvPr/>
        </p:nvSpPr>
        <p:spPr>
          <a:xfrm>
            <a:off x="8559800" y="2468761"/>
            <a:ext cx="290398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Műszakvezető (ez a nézet)</a:t>
            </a:r>
            <a:endParaRPr lang="en-US" sz="1200" dirty="0"/>
          </a:p>
        </p:txBody>
      </p:sp>
      <p:sp>
        <p:nvSpPr>
          <p:cNvPr id="134" name="Text 118"/>
          <p:cNvSpPr/>
          <p:nvPr/>
        </p:nvSpPr>
        <p:spPr>
          <a:xfrm>
            <a:off x="8559800" y="2687179"/>
            <a:ext cx="2903982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egész épület élőben, határértékek, kézi mód</a:t>
            </a:r>
            <a:endParaRPr lang="en-US" sz="1200" dirty="0"/>
          </a:p>
        </p:txBody>
      </p:sp>
      <p:sp>
        <p:nvSpPr>
          <p:cNvPr id="135" name="Shape 119"/>
          <p:cNvSpPr/>
          <p:nvPr/>
        </p:nvSpPr>
        <p:spPr>
          <a:xfrm>
            <a:off x="8559800" y="3193852"/>
            <a:ext cx="2819400" cy="0"/>
          </a:xfrm>
          <a:prstGeom prst="line">
            <a:avLst/>
          </a:prstGeom>
          <a:noFill/>
          <a:ln w="12700">
            <a:solidFill>
              <a:srgbClr val="E2DED5"/>
            </a:solidFill>
            <a:prstDash val="solid"/>
          </a:ln>
        </p:spPr>
      </p:sp>
      <p:sp>
        <p:nvSpPr>
          <p:cNvPr id="136" name="Text 120"/>
          <p:cNvSpPr/>
          <p:nvPr/>
        </p:nvSpPr>
        <p:spPr>
          <a:xfrm>
            <a:off x="8559800" y="3263702"/>
            <a:ext cx="290398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Karbantartó (mobil)</a:t>
            </a:r>
            <a:endParaRPr lang="en-US" sz="1200" dirty="0"/>
          </a:p>
        </p:txBody>
      </p:sp>
      <p:sp>
        <p:nvSpPr>
          <p:cNvPr id="137" name="Text 121"/>
          <p:cNvSpPr/>
          <p:nvPr/>
        </p:nvSpPr>
        <p:spPr>
          <a:xfrm>
            <a:off x="8559800" y="3482119"/>
            <a:ext cx="2903982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riasztások, gépállapot, elemszint; nyugtáz</a:t>
            </a:r>
            <a:endParaRPr lang="en-US" sz="1200" dirty="0"/>
          </a:p>
        </p:txBody>
      </p:sp>
      <p:sp>
        <p:nvSpPr>
          <p:cNvPr id="138" name="Shape 122"/>
          <p:cNvSpPr/>
          <p:nvPr/>
        </p:nvSpPr>
        <p:spPr>
          <a:xfrm>
            <a:off x="8559800" y="3988792"/>
            <a:ext cx="2819400" cy="0"/>
          </a:xfrm>
          <a:prstGeom prst="line">
            <a:avLst/>
          </a:prstGeom>
          <a:noFill/>
          <a:ln w="12700">
            <a:solidFill>
              <a:srgbClr val="E2DED5"/>
            </a:solidFill>
            <a:prstDash val="solid"/>
          </a:ln>
        </p:spPr>
      </p:sp>
      <p:sp>
        <p:nvSpPr>
          <p:cNvPr id="139" name="Text 123"/>
          <p:cNvSpPr/>
          <p:nvPr/>
        </p:nvSpPr>
        <p:spPr>
          <a:xfrm>
            <a:off x="8559800" y="4058642"/>
            <a:ext cx="290398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Recepció, rendezvények</a:t>
            </a:r>
            <a:endParaRPr lang="en-US" sz="1200" dirty="0"/>
          </a:p>
        </p:txBody>
      </p:sp>
      <p:sp>
        <p:nvSpPr>
          <p:cNvPr id="140" name="Text 124"/>
          <p:cNvSpPr/>
          <p:nvPr/>
        </p:nvSpPr>
        <p:spPr>
          <a:xfrm>
            <a:off x="8559800" y="4277060"/>
            <a:ext cx="2903982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szobák állapota, termek levegője, előfűtés</a:t>
            </a:r>
            <a:endParaRPr lang="en-US" sz="1200" dirty="0"/>
          </a:p>
        </p:txBody>
      </p:sp>
      <p:sp>
        <p:nvSpPr>
          <p:cNvPr id="141" name="Shape 125"/>
          <p:cNvSpPr/>
          <p:nvPr/>
        </p:nvSpPr>
        <p:spPr>
          <a:xfrm>
            <a:off x="8559800" y="4783733"/>
            <a:ext cx="2819400" cy="0"/>
          </a:xfrm>
          <a:prstGeom prst="line">
            <a:avLst/>
          </a:prstGeom>
          <a:noFill/>
          <a:ln w="12700">
            <a:solidFill>
              <a:srgbClr val="E2DED5"/>
            </a:solidFill>
            <a:prstDash val="solid"/>
          </a:ln>
        </p:spPr>
      </p:sp>
      <p:sp>
        <p:nvSpPr>
          <p:cNvPr id="142" name="Text 126"/>
          <p:cNvSpPr/>
          <p:nvPr/>
        </p:nvSpPr>
        <p:spPr>
          <a:xfrm>
            <a:off x="8559800" y="4853583"/>
            <a:ext cx="290398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Vendég (szobai panel)</a:t>
            </a:r>
            <a:endParaRPr lang="en-US" sz="1200" dirty="0"/>
          </a:p>
        </p:txBody>
      </p:sp>
      <p:sp>
        <p:nvSpPr>
          <p:cNvPr id="143" name="Text 127"/>
          <p:cNvSpPr/>
          <p:nvPr/>
        </p:nvSpPr>
        <p:spPr>
          <a:xfrm>
            <a:off x="8559800" y="5072000"/>
            <a:ext cx="290398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saját szobája: ±3 °C</a:t>
            </a:r>
            <a:endParaRPr lang="en-US" sz="1200" dirty="0"/>
          </a:p>
        </p:txBody>
      </p:sp>
      <p:sp>
        <p:nvSpPr>
          <p:cNvPr id="144" name="Text 128"/>
          <p:cNvSpPr/>
          <p:nvPr/>
        </p:nvSpPr>
        <p:spPr>
          <a:xfrm>
            <a:off x="812800" y="6238280"/>
            <a:ext cx="967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Mockup szemléltető adatokkal.</a:t>
            </a:r>
            <a:endParaRPr lang="en-US" sz="1200" dirty="0"/>
          </a:p>
        </p:txBody>
      </p:sp>
      <p:sp>
        <p:nvSpPr>
          <p:cNvPr id="145" name="Text 12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shboard-mockupok négy szerepkörre: üzemeltetési vezető áttekintő nézete laptopon (hőmérséklet, energia, foglaltság, riasztások, épületszintek, klímavezérlés), igazgatósági elemző nézet tableten, vendég mobil nézet a szobai klímával, karbantartói eszközállapot-lista; alul négy kártya: érzékelés, automatizálás, korai hibafelismerés, központi felüle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· KOCKÁZATOK ÉS KIBERBIZTONSÁG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 mehet félre, és hogyan kezeljük?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86508"/>
            <a:ext cx="6375400" cy="0"/>
          </a:xfrm>
          <a:prstGeom prst="line">
            <a:avLst/>
          </a:prstGeom>
          <a:noFill/>
          <a:ln w="12700">
            <a:solidFill>
              <a:srgbClr val="1422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03338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KOCKÁZAT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70200" y="1803338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 A GOND → HOGYAN KEZELJÜK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685657"/>
            <a:ext cx="6375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169058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Beruházási költség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70200" y="2169058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Sok eszköz és integráció; a megtérülés éghajlatfüggő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70200" y="2395079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Pilot egy szinten, bővítés mért megtakarítás után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281627"/>
            <a:ext cx="6375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2765028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Rádiós lefedettség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70200" y="2765028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Vasbeton födém, pince, liftakna gyengíti a jelet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70200" y="2991048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Rádiós helyszínfelmérés, szükség szerint több gateway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3877603"/>
            <a:ext cx="6375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3361004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Szenzorhiba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70200" y="3361004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Lemerülő elem, elcsúszó CO₂-érték, hamis riasztás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70200" y="3587024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Életjel- és elemszintfigyelés, kalibrálás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4473579"/>
            <a:ext cx="6375400" cy="0"/>
          </a:xfrm>
          <a:prstGeom prst="line">
            <a:avLst/>
          </a:prstGeom>
          <a:noFill/>
          <a:ln w="6350">
            <a:solidFill>
              <a:srgbClr val="E2DE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39569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Rendszerkiesés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70200" y="3956980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Internet- vagy szerverhiba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70200" y="4183000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Helyi edge szerver szünetmentes táppal, kézi mód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455295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Komfort kontra megtakarítás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70200" y="4552950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Túl szigorú takarék mód → vendégpanasz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70200" y="4778970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2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A vendég felülbírálhat; finomhangolás a pilotban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42200" y="1803338"/>
            <a:ext cx="3937000" cy="3145896"/>
          </a:xfrm>
          <a:prstGeom prst="roundRect">
            <a:avLst>
              <a:gd name="adj" fmla="val 2826"/>
            </a:avLst>
          </a:prstGeom>
          <a:solidFill>
            <a:srgbClr val="14222F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0" y="1981138"/>
            <a:ext cx="36888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3A5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KIBERBIZTONSÁG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20000" y="2270658"/>
            <a:ext cx="36888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Minden szenzor egy lehetséges ajtó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20000" y="2575458"/>
            <a:ext cx="368884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Fenyegetés: gyári jelszavú eszköz, behatolás a vendég Wi-Fi-ről, hamis vezérlőjel, kiszivárgó jelenlétadat.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20000" y="3294794"/>
            <a:ext cx="3581400" cy="0"/>
          </a:xfrm>
          <a:prstGeom prst="line">
            <a:avLst/>
          </a:prstGeom>
          <a:noFill/>
          <a:ln w="6350">
            <a:solidFill>
              <a:srgbClr val="2E42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0000" y="3346648"/>
            <a:ext cx="368884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FC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Szegmentálás:</a:t>
            </a:r>
            <a:r>
              <a:rPr lang="en-US" sz="1200" dirty="0">
                <a:solidFill>
                  <a:srgbClr val="E4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külön OT-VLAN, tűzfal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20000" y="3590466"/>
            <a:ext cx="368884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FC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Titkosítás:</a:t>
            </a:r>
            <a:r>
              <a:rPr lang="en-US" sz="1200" dirty="0">
                <a:solidFill>
                  <a:srgbClr val="E4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AES-128 a rádión, TLS, VPN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20000" y="3834278"/>
            <a:ext cx="368884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FC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Hozzáférés:</a:t>
            </a:r>
            <a:r>
              <a:rPr lang="en-US" sz="1200" dirty="0">
                <a:solidFill>
                  <a:srgbClr val="E4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szerepkörök, kétfaktoros belépés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20000" y="4078089"/>
            <a:ext cx="368884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FC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Eszközök:</a:t>
            </a:r>
            <a:r>
              <a:rPr lang="en-US" sz="1200" dirty="0">
                <a:solidFill>
                  <a:srgbClr val="E4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egyedi kulcs, firmware-frissítés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20000" y="4321907"/>
            <a:ext cx="368884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FC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Felügyelet:</a:t>
            </a:r>
            <a:r>
              <a:rPr lang="en-US" sz="1200" dirty="0">
                <a:solidFill>
                  <a:srgbClr val="E4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naplózás, anomália-riasztás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20000" y="4565718"/>
            <a:ext cx="3688842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FC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GDPR:</a:t>
            </a:r>
            <a:r>
              <a:rPr lang="en-US" sz="1200" dirty="0">
                <a:solidFill>
                  <a:srgbClr val="E4F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nincs kamera, anonim jelenlétadat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80"/>
            <a:ext cx="967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Kapcsolatvesztéskor a helyi vezérlő biztonságos módban marad, a szelepek kézzel is kezelhetők.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· MEGVALÓSÍTÁS ÉS ÖSSZEGZÉS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Szakaszos bevezetés, mérhető eredmény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38"/>
            <a:ext cx="2317750" cy="1500981"/>
          </a:xfrm>
          <a:prstGeom prst="roundRect">
            <a:avLst>
              <a:gd name="adj" fmla="val 5923"/>
            </a:avLst>
          </a:prstGeom>
          <a:solidFill>
            <a:srgbClr val="FCFBF8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03338"/>
            <a:ext cx="2317750" cy="1500981"/>
          </a:xfrm>
          <a:custGeom>
            <a:avLst/>
            <a:gdLst/>
            <a:ahLst/>
            <a:cxnLst/>
            <a:rect l="l" t="t" r="r" b="b"/>
            <a:pathLst>
              <a:path w="2317750" h="1500981">
                <a:moveTo>
                  <a:pt x="0" y="88900"/>
                </a:moveTo>
                <a:lnTo>
                  <a:pt x="0" y="88900"/>
                </a:lnTo>
                <a:arcTo hR="88900" wR="88900" stAng="10800000" swAng="5400000"/>
                <a:lnTo>
                  <a:pt x="2228850" y="0"/>
                </a:lnTo>
                <a:arcTo hR="88900" wR="88900" stAng="16200000" swAng="5400000"/>
                <a:lnTo>
                  <a:pt x="2317750" y="88900"/>
                </a:lnTo>
                <a:arcTo hR="50800" wR="88900" stAng="0" swAng="-5400000"/>
                <a:lnTo>
                  <a:pt x="88900" y="38100"/>
                </a:lnTo>
                <a:arcTo hR="50800" wR="88900" stAng="16200000" swAng="-5400000"/>
                <a:close/>
              </a:path>
            </a:pathLst>
          </a:custGeom>
          <a:solidFill>
            <a:srgbClr val="17706B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993838"/>
            <a:ext cx="2021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szakasz · 1–3. hónap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2245258"/>
            <a:ext cx="20210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Pilot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0600" y="2511958"/>
            <a:ext cx="202101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szobaszint, 1 terem, a hűtőkamrák; rádiós felmérés, alapmérés</a:t>
            </a:r>
            <a:endParaRPr lang="en-US" sz="12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32150" y="2490329"/>
            <a:ext cx="228600" cy="127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62350" y="1803338"/>
            <a:ext cx="2317750" cy="1500981"/>
          </a:xfrm>
          <a:prstGeom prst="roundRect">
            <a:avLst>
              <a:gd name="adj" fmla="val 5923"/>
            </a:avLst>
          </a:prstGeom>
          <a:solidFill>
            <a:srgbClr val="FCFBF8"/>
          </a:solidFill>
          <a:ln/>
        </p:spPr>
      </p:sp>
      <p:sp>
        <p:nvSpPr>
          <p:cNvPr id="11" name="Shape 8"/>
          <p:cNvSpPr/>
          <p:nvPr/>
        </p:nvSpPr>
        <p:spPr>
          <a:xfrm>
            <a:off x="3562350" y="1803338"/>
            <a:ext cx="2317750" cy="1500981"/>
          </a:xfrm>
          <a:custGeom>
            <a:avLst/>
            <a:gdLst/>
            <a:ahLst/>
            <a:cxnLst/>
            <a:rect l="l" t="t" r="r" b="b"/>
            <a:pathLst>
              <a:path w="2317750" h="1500981">
                <a:moveTo>
                  <a:pt x="0" y="88900"/>
                </a:moveTo>
                <a:lnTo>
                  <a:pt x="0" y="88900"/>
                </a:lnTo>
                <a:arcTo hR="88900" wR="88900" stAng="10800000" swAng="5400000"/>
                <a:lnTo>
                  <a:pt x="2228850" y="0"/>
                </a:lnTo>
                <a:arcTo hR="88900" wR="88900" stAng="16200000" swAng="5400000"/>
                <a:lnTo>
                  <a:pt x="2317750" y="88900"/>
                </a:lnTo>
                <a:arcTo hR="50800" wR="88900" stAng="0" swAng="-5400000"/>
                <a:lnTo>
                  <a:pt x="88900" y="38100"/>
                </a:lnTo>
                <a:arcTo hR="50800" wR="88900" stAng="16200000" swAng="-5400000"/>
                <a:close/>
              </a:path>
            </a:pathLst>
          </a:custGeom>
          <a:solidFill>
            <a:srgbClr val="17706B"/>
          </a:solidFill>
          <a:ln/>
        </p:spPr>
      </p:sp>
      <p:sp>
        <p:nvSpPr>
          <p:cNvPr id="12" name="Text 9"/>
          <p:cNvSpPr/>
          <p:nvPr/>
        </p:nvSpPr>
        <p:spPr>
          <a:xfrm>
            <a:off x="3740150" y="1993838"/>
            <a:ext cx="2021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7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szakasz · 4–8. hónap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740150" y="2245258"/>
            <a:ext cx="20210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Kiterjesztés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740150" y="2511958"/>
            <a:ext cx="202101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minden szoba és terem, PMS-integráció, dashboard, mobilapp</a:t>
            </a:r>
            <a:endParaRPr lang="en-US" sz="1200" dirty="0"/>
          </a:p>
        </p:txBody>
      </p:sp>
      <p:pic>
        <p:nvPicPr>
          <p:cNvPr id="15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1700" y="2490329"/>
            <a:ext cx="228600" cy="127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11900" y="1803338"/>
            <a:ext cx="2317750" cy="1500981"/>
          </a:xfrm>
          <a:prstGeom prst="roundRect">
            <a:avLst>
              <a:gd name="adj" fmla="val 5923"/>
            </a:avLst>
          </a:prstGeom>
          <a:solidFill>
            <a:srgbClr val="FCFBF8"/>
          </a:solidFill>
          <a:ln/>
        </p:spPr>
      </p:sp>
      <p:sp>
        <p:nvSpPr>
          <p:cNvPr id="17" name="Shape 13"/>
          <p:cNvSpPr/>
          <p:nvPr/>
        </p:nvSpPr>
        <p:spPr>
          <a:xfrm>
            <a:off x="6311900" y="1803338"/>
            <a:ext cx="2317750" cy="1500981"/>
          </a:xfrm>
          <a:custGeom>
            <a:avLst/>
            <a:gdLst/>
            <a:ahLst/>
            <a:cxnLst/>
            <a:rect l="l" t="t" r="r" b="b"/>
            <a:pathLst>
              <a:path w="2317750" h="1500981">
                <a:moveTo>
                  <a:pt x="0" y="88900"/>
                </a:moveTo>
                <a:lnTo>
                  <a:pt x="0" y="88900"/>
                </a:lnTo>
                <a:arcTo hR="88900" wR="88900" stAng="10800000" swAng="5400000"/>
                <a:lnTo>
                  <a:pt x="2228850" y="0"/>
                </a:lnTo>
                <a:arcTo hR="88900" wR="88900" stAng="16200000" swAng="5400000"/>
                <a:lnTo>
                  <a:pt x="2317750" y="88900"/>
                </a:lnTo>
                <a:arcTo hR="50800" wR="88900" stAng="0" swAng="-5400000"/>
                <a:lnTo>
                  <a:pt x="88900" y="38100"/>
                </a:lnTo>
                <a:arcTo hR="50800" wR="88900" stAng="16200000" swAng="-5400000"/>
                <a:close/>
              </a:path>
            </a:pathLst>
          </a:custGeom>
          <a:solidFill>
            <a:srgbClr val="E3A53C"/>
          </a:solidFill>
          <a:ln/>
        </p:spPr>
      </p:sp>
      <p:sp>
        <p:nvSpPr>
          <p:cNvPr id="18" name="Text 14"/>
          <p:cNvSpPr/>
          <p:nvPr/>
        </p:nvSpPr>
        <p:spPr>
          <a:xfrm>
            <a:off x="6489700" y="1993838"/>
            <a:ext cx="2021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szakasz · 9–12. hónap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89700" y="2245258"/>
            <a:ext cx="20210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Gépészet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89700" y="2511958"/>
            <a:ext cx="202101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E, A, R mérők, vízelzáró szelepek, CMMS-integráció</a:t>
            </a:r>
            <a:endParaRPr lang="en-US" sz="1200" dirty="0"/>
          </a:p>
        </p:txBody>
      </p:sp>
      <p:pic>
        <p:nvPicPr>
          <p:cNvPr id="21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31250" y="2490329"/>
            <a:ext cx="228600" cy="1270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061450" y="1803338"/>
            <a:ext cx="2317750" cy="1500981"/>
          </a:xfrm>
          <a:prstGeom prst="roundRect">
            <a:avLst>
              <a:gd name="adj" fmla="val 5923"/>
            </a:avLst>
          </a:prstGeom>
          <a:solidFill>
            <a:srgbClr val="FCFBF8"/>
          </a:solidFill>
          <a:ln/>
        </p:spPr>
      </p:sp>
      <p:sp>
        <p:nvSpPr>
          <p:cNvPr id="23" name="Shape 18"/>
          <p:cNvSpPr/>
          <p:nvPr/>
        </p:nvSpPr>
        <p:spPr>
          <a:xfrm>
            <a:off x="9061450" y="1803338"/>
            <a:ext cx="2317750" cy="1500981"/>
          </a:xfrm>
          <a:custGeom>
            <a:avLst/>
            <a:gdLst/>
            <a:ahLst/>
            <a:cxnLst/>
            <a:rect l="l" t="t" r="r" b="b"/>
            <a:pathLst>
              <a:path w="2317750" h="1500981">
                <a:moveTo>
                  <a:pt x="0" y="88900"/>
                </a:moveTo>
                <a:lnTo>
                  <a:pt x="0" y="88900"/>
                </a:lnTo>
                <a:arcTo hR="88900" wR="88900" stAng="10800000" swAng="5400000"/>
                <a:lnTo>
                  <a:pt x="2228850" y="0"/>
                </a:lnTo>
                <a:arcTo hR="88900" wR="88900" stAng="16200000" swAng="5400000"/>
                <a:lnTo>
                  <a:pt x="2317750" y="88900"/>
                </a:lnTo>
                <a:arcTo hR="50800" wR="88900" stAng="0" swAng="-5400000"/>
                <a:lnTo>
                  <a:pt x="88900" y="38100"/>
                </a:lnTo>
                <a:arcTo hR="50800" wR="88900" stAng="16200000" swAng="-5400000"/>
                <a:close/>
              </a:path>
            </a:pathLst>
          </a:custGeom>
          <a:solidFill>
            <a:srgbClr val="E3A53C"/>
          </a:solidFill>
          <a:ln/>
        </p:spPr>
      </p:sp>
      <p:sp>
        <p:nvSpPr>
          <p:cNvPr id="24" name="Text 19"/>
          <p:cNvSpPr/>
          <p:nvPr/>
        </p:nvSpPr>
        <p:spPr>
          <a:xfrm>
            <a:off x="9239250" y="1993838"/>
            <a:ext cx="2021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szakasz · 2. évtől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9239250" y="2245258"/>
            <a:ext cx="20210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2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Optimalizálás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239250" y="2511958"/>
            <a:ext cx="202101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6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határértékek hangolása, energiariportok, megtérülés követése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12800" y="3558319"/>
            <a:ext cx="10566400" cy="991791"/>
          </a:xfrm>
          <a:prstGeom prst="roundRect">
            <a:avLst>
              <a:gd name="adj" fmla="val 8964"/>
            </a:avLst>
          </a:prstGeom>
          <a:solidFill>
            <a:srgbClr val="14222F"/>
          </a:solidFill>
          <a:ln/>
        </p:spPr>
      </p:sp>
      <p:sp>
        <p:nvSpPr>
          <p:cNvPr id="28" name="Text 23"/>
          <p:cNvSpPr/>
          <p:nvPr/>
        </p:nvSpPr>
        <p:spPr>
          <a:xfrm>
            <a:off x="1066800" y="3761519"/>
            <a:ext cx="577131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5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Összegzés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1066800" y="4133590"/>
            <a:ext cx="57713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Minden elem egy konkrét problémára felel (P1–P4).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924014" y="3795117"/>
            <a:ext cx="859301" cy="33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4FC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2200" dirty="0"/>
          </a:p>
        </p:txBody>
      </p:sp>
      <p:sp>
        <p:nvSpPr>
          <p:cNvPr id="31" name="Text 26"/>
          <p:cNvSpPr/>
          <p:nvPr/>
        </p:nvSpPr>
        <p:spPr>
          <a:xfrm>
            <a:off x="6924014" y="4115135"/>
            <a:ext cx="859301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mérési adat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7961114" y="3795117"/>
            <a:ext cx="914797" cy="33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4FC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7961114" y="4115135"/>
            <a:ext cx="91479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szenzortípus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9053711" y="3795117"/>
            <a:ext cx="1027576" cy="33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4FC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0"/>
          <p:cNvSpPr/>
          <p:nvPr/>
        </p:nvSpPr>
        <p:spPr>
          <a:xfrm>
            <a:off x="9053711" y="4115135"/>
            <a:ext cx="1027576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automatizmus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10259087" y="3795117"/>
            <a:ext cx="916914" cy="33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4FC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200" dirty="0"/>
          </a:p>
        </p:txBody>
      </p:sp>
      <p:sp>
        <p:nvSpPr>
          <p:cNvPr id="37" name="Text 32"/>
          <p:cNvSpPr/>
          <p:nvPr/>
        </p:nvSpPr>
        <p:spPr>
          <a:xfrm>
            <a:off x="10259087" y="4115135"/>
            <a:ext cx="916914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közös felület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812800" y="6238280"/>
            <a:ext cx="967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Döntési pont a pilot után: továbblépés csak mért megtakarítás és elégedett vendégek esetén.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9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470150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E3A53C"/>
          </a:solidFill>
          <a:ln/>
        </p:spPr>
      </p:sp>
      <p:sp>
        <p:nvSpPr>
          <p:cNvPr id="3" name="Shape 1"/>
          <p:cNvSpPr/>
          <p:nvPr/>
        </p:nvSpPr>
        <p:spPr>
          <a:xfrm>
            <a:off x="1219200" y="2470150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243C54"/>
          </a:solidFill>
          <a:ln/>
        </p:spPr>
      </p:sp>
      <p:sp>
        <p:nvSpPr>
          <p:cNvPr id="4" name="Shape 2"/>
          <p:cNvSpPr/>
          <p:nvPr/>
        </p:nvSpPr>
        <p:spPr>
          <a:xfrm>
            <a:off x="1625600" y="2470150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4FC3B8"/>
          </a:solidFill>
          <a:ln/>
        </p:spPr>
      </p:sp>
      <p:sp>
        <p:nvSpPr>
          <p:cNvPr id="5" name="Shape 3"/>
          <p:cNvSpPr/>
          <p:nvPr/>
        </p:nvSpPr>
        <p:spPr>
          <a:xfrm>
            <a:off x="2032000" y="2470150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243C54"/>
          </a:solidFill>
          <a:ln/>
        </p:spPr>
      </p:sp>
      <p:sp>
        <p:nvSpPr>
          <p:cNvPr id="6" name="Shape 4"/>
          <p:cNvSpPr/>
          <p:nvPr/>
        </p:nvSpPr>
        <p:spPr>
          <a:xfrm>
            <a:off x="2438400" y="2470150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E3A53C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2978150"/>
            <a:ext cx="10883392" cy="71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5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Köszönjük a figyelmet!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12800" y="3874759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Örkényi Vilmos · Németh Balázs Kristóf · Schneweisz Levente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417446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7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Soproni Egyetem · IPAR 4.0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Okos épület – szálloda és konferenciaközpont IoT-ökoszisztémája</dc:title>
  <dc:subject>PptxGenJS Presentation</dc:subject>
  <dc:creator>PptxGenJS</dc:creator>
  <cp:lastModifiedBy>PptxGenJS</cp:lastModifiedBy>
  <cp:revision>1</cp:revision>
  <dcterms:created xsi:type="dcterms:W3CDTF">2026-09-29T11:59:54Z</dcterms:created>
  <dcterms:modified xsi:type="dcterms:W3CDTF">2026-09-29T11:59:54Z</dcterms:modified>
</cp:coreProperties>
</file>